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2.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9" r:id="rId5"/>
    <p:sldId id="260" r:id="rId6"/>
    <p:sldId id="261" r:id="rId7"/>
    <p:sldId id="262" r:id="rId8"/>
    <p:sldId id="269" r:id="rId9"/>
    <p:sldId id="263" r:id="rId10"/>
    <p:sldId id="264" r:id="rId11"/>
    <p:sldId id="265" r:id="rId12"/>
    <p:sldId id="266" r:id="rId13"/>
    <p:sldId id="267" r:id="rId14"/>
    <p:sldId id="268" r:id="rId15"/>
  </p:sldIdLst>
  <p:sldSz cx="18288000" cy="10287000"/>
  <p:notesSz cx="6858000" cy="9144000"/>
  <p:embeddedFontLst>
    <p:embeddedFont>
      <p:font typeface="Quicksand"/>
      <p:regular r:id="rId19"/>
    </p:embeddedFont>
    <p:embeddedFont>
      <p:font typeface="Cormorant Garamond Bold Italics" panose="00000800000000000000"/>
      <p:boldItalic r:id="rId20"/>
    </p:embeddedFont>
    <p:embeddedFont>
      <p:font typeface="Quicksand Bold"/>
      <p:bold r:id="rId21"/>
    </p:embeddedFont>
    <p:embeddedFont>
      <p:font typeface="Calibri" panose="020F050202020403020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54"/>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tags" Target="../tags/tag3.xml"/><Relationship Id="rId22" Type="http://schemas.openxmlformats.org/officeDocument/2006/relationships/slideLayout" Target="../slideLayouts/slideLayout7.xml"/><Relationship Id="rId21" Type="http://schemas.openxmlformats.org/officeDocument/2006/relationships/tags" Target="../tags/tag15.xml"/><Relationship Id="rId20" Type="http://schemas.openxmlformats.org/officeDocument/2006/relationships/tags" Target="../tags/tag14.xml"/><Relationship Id="rId2" Type="http://schemas.openxmlformats.org/officeDocument/2006/relationships/tags" Target="../tags/tag2.xml"/><Relationship Id="rId19" Type="http://schemas.openxmlformats.org/officeDocument/2006/relationships/tags" Target="../tags/tag13.xml"/><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tags" Target="../tags/tag10.xml"/><Relationship Id="rId15" Type="http://schemas.openxmlformats.org/officeDocument/2006/relationships/image" Target="../media/image8.svg"/><Relationship Id="rId14" Type="http://schemas.openxmlformats.org/officeDocument/2006/relationships/image" Target="../media/image7.png"/><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image" Target="../media/image6.sv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jpeg"/><Relationship Id="rId2" Type="http://schemas.microsoft.com/office/2007/relationships/media" Target="../media/media1.mp4"/><Relationship Id="rId1" Type="http://schemas.openxmlformats.org/officeDocument/2006/relationships/video" Target="../media/media1.mp4"/></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3" name="AutoShape 3"/>
          <p:cNvSpPr/>
          <p:nvPr/>
        </p:nvSpPr>
        <p:spPr>
          <a:xfrm>
            <a:off x="9158735" y="990600"/>
            <a:ext cx="8114971" cy="0"/>
          </a:xfrm>
          <a:prstGeom prst="line">
            <a:avLst/>
          </a:prstGeom>
          <a:ln w="76200" cap="flat">
            <a:solidFill>
              <a:srgbClr val="0F4662"/>
            </a:solidFill>
            <a:prstDash val="solid"/>
            <a:headEnd type="none" w="sm" len="sm"/>
            <a:tailEnd type="none" w="sm" len="sm"/>
          </a:ln>
        </p:spPr>
      </p:sp>
      <p:sp>
        <p:nvSpPr>
          <p:cNvPr id="6" name="TextBox 6"/>
          <p:cNvSpPr txBox="1"/>
          <p:nvPr/>
        </p:nvSpPr>
        <p:spPr>
          <a:xfrm>
            <a:off x="2895600" y="3467100"/>
            <a:ext cx="13674725" cy="1805940"/>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lIns="0" tIns="0" rIns="0" bIns="0" rtlCol="0" anchor="t">
            <a:noAutofit/>
          </a:bodyPr>
          <a:lstStyle/>
          <a:p>
            <a:pPr marL="0" lvl="0" indent="0" algn="ctr">
              <a:lnSpc>
                <a:spcPts val="6845"/>
              </a:lnSpc>
              <a:spcBef>
                <a:spcPct val="0"/>
              </a:spcBef>
            </a:pPr>
            <a:r>
              <a:rPr lang="en-US" sz="5500" b="1" i="1">
                <a:solidFill>
                  <a:srgbClr val="0F4662"/>
                </a:solidFill>
                <a:latin typeface="Quicksand"/>
                <a:ea typeface="Quicksand"/>
                <a:cs typeface="Quicksand"/>
                <a:sym typeface="Quicksand"/>
              </a:rPr>
              <a:t>Email Phishing Analysis and Detection</a:t>
            </a:r>
            <a:endParaRPr lang="en-US" sz="5500" b="1" i="1">
              <a:solidFill>
                <a:srgbClr val="0F4662"/>
              </a:solidFill>
              <a:latin typeface="Quicksand"/>
              <a:ea typeface="Quicksand"/>
              <a:cs typeface="Quicksand"/>
              <a:sym typeface="Quicksand"/>
            </a:endParaRPr>
          </a:p>
        </p:txBody>
      </p:sp>
      <p:sp>
        <p:nvSpPr>
          <p:cNvPr id="8" name="TextBox 8"/>
          <p:cNvSpPr txBox="1"/>
          <p:nvPr/>
        </p:nvSpPr>
        <p:spPr>
          <a:xfrm>
            <a:off x="3336914" y="1967581"/>
            <a:ext cx="11643643" cy="529811"/>
          </a:xfrm>
          <a:prstGeom prst="rect">
            <a:avLst/>
          </a:prstGeom>
        </p:spPr>
        <p:txBody>
          <a:bodyPr lIns="0" tIns="0" rIns="0" bIns="0" rtlCol="0" anchor="t">
            <a:spAutoFit/>
          </a:bodyPr>
          <a:lstStyle/>
          <a:p>
            <a:pPr marL="0" lvl="0" indent="0" algn="ctr">
              <a:lnSpc>
                <a:spcPts val="4395"/>
              </a:lnSpc>
              <a:spcBef>
                <a:spcPct val="0"/>
              </a:spcBef>
            </a:pPr>
            <a:r>
              <a:rPr lang="en-US" sz="3140">
                <a:solidFill>
                  <a:srgbClr val="0F4662"/>
                </a:solidFill>
                <a:latin typeface="Quicksand"/>
                <a:ea typeface="Quicksand"/>
                <a:cs typeface="Quicksand"/>
                <a:sym typeface="Quicksand"/>
              </a:rPr>
              <a:t>Prepared by Team Phishing Group</a:t>
            </a:r>
            <a:endParaRPr lang="en-US" sz="3140">
              <a:solidFill>
                <a:srgbClr val="0F4662"/>
              </a:solidFill>
              <a:latin typeface="Quicksand"/>
              <a:ea typeface="Quicksand"/>
              <a:cs typeface="Quicksand"/>
              <a:sym typeface="Quicksand"/>
            </a:endParaRPr>
          </a:p>
        </p:txBody>
      </p:sp>
      <p:sp>
        <p:nvSpPr>
          <p:cNvPr id="9" name="Freeform 9"/>
          <p:cNvSpPr/>
          <p:nvPr/>
        </p:nvSpPr>
        <p:spPr>
          <a:xfrm>
            <a:off x="5646742" y="8078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rot="0">
            <a:off x="0" y="0"/>
            <a:ext cx="18288000" cy="4099486"/>
            <a:chOff x="0" y="0"/>
            <a:chExt cx="4816593" cy="1079700"/>
          </a:xfrm>
        </p:grpSpPr>
        <p:sp>
          <p:nvSpPr>
            <p:cNvPr id="3" name="Freeform 3"/>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sp>
        <p:sp>
          <p:nvSpPr>
            <p:cNvPr id="4" name="TextBox 4"/>
            <p:cNvSpPr txBox="1"/>
            <p:nvPr/>
          </p:nvSpPr>
          <p:spPr>
            <a:xfrm>
              <a:off x="0" y="-47625"/>
              <a:ext cx="4816593" cy="1127325"/>
            </a:xfrm>
            <a:prstGeom prst="rect">
              <a:avLst/>
            </a:prstGeom>
          </p:spPr>
          <p:txBody>
            <a:bodyPr lIns="50800" tIns="50800" rIns="50800" bIns="50800" rtlCol="0" anchor="ctr"/>
            <a:lstStyle/>
            <a:p>
              <a:pPr algn="ctr">
                <a:lnSpc>
                  <a:spcPts val="3695"/>
                </a:lnSpc>
              </a:pPr>
            </a:p>
          </p:txBody>
        </p:sp>
      </p:grpSp>
      <p:sp>
        <p:nvSpPr>
          <p:cNvPr id="9" name="AutoShape 9"/>
          <p:cNvSpPr/>
          <p:nvPr/>
        </p:nvSpPr>
        <p:spPr>
          <a:xfrm>
            <a:off x="5897880" y="8681205"/>
            <a:ext cx="6492240" cy="0"/>
          </a:xfrm>
          <a:prstGeom prst="line">
            <a:avLst/>
          </a:prstGeom>
          <a:ln w="76200" cap="flat">
            <a:solidFill>
              <a:srgbClr val="0F4662"/>
            </a:solidFill>
            <a:prstDash val="solid"/>
            <a:headEnd type="none" w="sm" len="sm"/>
            <a:tailEnd type="none" w="sm" len="sm"/>
          </a:ln>
        </p:spPr>
      </p:sp>
      <p:sp>
        <p:nvSpPr>
          <p:cNvPr id="10" name="Freeform 10"/>
          <p:cNvSpPr/>
          <p:nvPr/>
        </p:nvSpPr>
        <p:spPr>
          <a:xfrm>
            <a:off x="8304001" y="9529723"/>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2" name="TextBox 12"/>
          <p:cNvSpPr txBox="1"/>
          <p:nvPr/>
        </p:nvSpPr>
        <p:spPr>
          <a:xfrm>
            <a:off x="1028700" y="599709"/>
            <a:ext cx="9914964" cy="1085215"/>
          </a:xfrm>
          <a:prstGeom prst="rect">
            <a:avLst/>
          </a:prstGeom>
        </p:spPr>
        <p:txBody>
          <a:bodyPr lIns="0" tIns="0" rIns="0" bIns="0" rtlCol="0" anchor="t">
            <a:spAutoFit/>
          </a:bodyPr>
          <a:lstStyle/>
          <a:p>
            <a:pPr marL="0" lvl="0" indent="0" algn="l">
              <a:lnSpc>
                <a:spcPts val="8960"/>
              </a:lnSpc>
              <a:spcBef>
                <a:spcPct val="0"/>
              </a:spcBef>
            </a:pPr>
            <a:r>
              <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rPr>
              <a:t>Team Members</a:t>
            </a:r>
            <a:endPar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endParaRPr>
          </a:p>
        </p:txBody>
      </p:sp>
      <p:sp>
        <p:nvSpPr>
          <p:cNvPr id="13" name="TextBox 13"/>
          <p:cNvSpPr txBox="1"/>
          <p:nvPr/>
        </p:nvSpPr>
        <p:spPr>
          <a:xfrm>
            <a:off x="914625" y="4549627"/>
            <a:ext cx="5017320" cy="502285"/>
          </a:xfrm>
          <a:prstGeom prst="rect">
            <a:avLst/>
          </a:prstGeom>
        </p:spPr>
        <p:txBody>
          <a:bodyPr lIns="0" tIns="0" rIns="0" bIns="0" rtlCol="0" anchor="t">
            <a:spAutoFit/>
          </a:bodyPr>
          <a:lstStyle/>
          <a:p>
            <a:pPr marL="0" lvl="0" indent="0" algn="ctr">
              <a:lnSpc>
                <a:spcPts val="3920"/>
              </a:lnSpc>
              <a:spcBef>
                <a:spcPct val="0"/>
              </a:spcBef>
            </a:pPr>
            <a:r>
              <a:rPr lang="en-US" sz="2800">
                <a:solidFill>
                  <a:srgbClr val="0F4662"/>
                </a:solidFill>
                <a:latin typeface="Quicksand"/>
                <a:ea typeface="Quicksand"/>
                <a:cs typeface="Quicksand"/>
                <a:sym typeface="Quicksand"/>
              </a:rPr>
              <a:t>Leader: </a:t>
            </a:r>
            <a:r>
              <a:rPr lang="en-US" sz="2800" b="1">
                <a:solidFill>
                  <a:srgbClr val="0F4662"/>
                </a:solidFill>
                <a:latin typeface="Quicksand Bold"/>
                <a:ea typeface="Quicksand Bold"/>
                <a:cs typeface="Quicksand Bold"/>
                <a:sym typeface="Quicksand Bold"/>
              </a:rPr>
              <a:t>Yousef Mohamed</a:t>
            </a:r>
            <a:endParaRPr lang="en-US" sz="2800" b="1">
              <a:solidFill>
                <a:srgbClr val="0F4662"/>
              </a:solidFill>
              <a:latin typeface="Quicksand Bold"/>
              <a:ea typeface="Quicksand Bold"/>
              <a:cs typeface="Quicksand Bold"/>
              <a:sym typeface="Quicksand Bold"/>
            </a:endParaRPr>
          </a:p>
        </p:txBody>
      </p:sp>
      <p:sp>
        <p:nvSpPr>
          <p:cNvPr id="15" name="TextBox 15"/>
          <p:cNvSpPr txBox="1"/>
          <p:nvPr/>
        </p:nvSpPr>
        <p:spPr>
          <a:xfrm>
            <a:off x="761815" y="5636397"/>
            <a:ext cx="5017320" cy="490855"/>
          </a:xfrm>
          <a:prstGeom prst="rect">
            <a:avLst/>
          </a:prstGeom>
        </p:spPr>
        <p:txBody>
          <a:bodyPr lIns="0" tIns="0" rIns="0" bIns="0" rtlCol="0" anchor="t">
            <a:spAutoFit/>
          </a:bodyPr>
          <a:lstStyle/>
          <a:p>
            <a:pPr marL="0" lvl="0" indent="0" algn="ctr">
              <a:lnSpc>
                <a:spcPts val="3920"/>
              </a:lnSpc>
              <a:spcBef>
                <a:spcPct val="0"/>
              </a:spcBef>
            </a:pPr>
            <a:r>
              <a:rPr lang="en-US" sz="2800" b="1">
                <a:solidFill>
                  <a:srgbClr val="0F4662"/>
                </a:solidFill>
                <a:latin typeface="Quicksand Bold"/>
                <a:ea typeface="Quicksand Bold"/>
                <a:cs typeface="Quicksand Bold"/>
                <a:sym typeface="Quicksand Bold"/>
              </a:rPr>
              <a:t>Youmna Ramadan</a:t>
            </a:r>
            <a:endParaRPr lang="en-US" sz="2800" b="1">
              <a:solidFill>
                <a:srgbClr val="0F4662"/>
              </a:solidFill>
              <a:latin typeface="Quicksand Bold"/>
              <a:ea typeface="Quicksand Bold"/>
              <a:cs typeface="Quicksand Bold"/>
              <a:sym typeface="Quicksand Bold"/>
            </a:endParaRPr>
          </a:p>
        </p:txBody>
      </p:sp>
      <p:sp>
        <p:nvSpPr>
          <p:cNvPr id="16" name="TextBox 16"/>
          <p:cNvSpPr txBox="1"/>
          <p:nvPr/>
        </p:nvSpPr>
        <p:spPr>
          <a:xfrm>
            <a:off x="12241980" y="6757320"/>
            <a:ext cx="5017320" cy="430530"/>
          </a:xfrm>
          <a:prstGeom prst="rect">
            <a:avLst/>
          </a:prstGeom>
        </p:spPr>
        <p:txBody>
          <a:bodyPr lIns="0" tIns="0" rIns="0" bIns="0" rtlCol="0" anchor="t">
            <a:spAutoFit/>
          </a:bodyPr>
          <a:lstStyle/>
          <a:p>
            <a:pPr marL="0" lvl="0" indent="0" algn="ctr">
              <a:lnSpc>
                <a:spcPts val="3360"/>
              </a:lnSpc>
              <a:spcBef>
                <a:spcPct val="0"/>
              </a:spcBef>
            </a:pPr>
            <a:endParaRPr lang="en-US" sz="2400">
              <a:solidFill>
                <a:srgbClr val="0F4662"/>
              </a:solidFill>
              <a:latin typeface="Quicksand"/>
              <a:ea typeface="Quicksand"/>
              <a:cs typeface="Quicksand"/>
              <a:sym typeface="Quicksand"/>
            </a:endParaRPr>
          </a:p>
        </p:txBody>
      </p:sp>
      <p:sp>
        <p:nvSpPr>
          <p:cNvPr id="17" name="TextBox 17"/>
          <p:cNvSpPr txBox="1"/>
          <p:nvPr/>
        </p:nvSpPr>
        <p:spPr>
          <a:xfrm>
            <a:off x="1143000" y="5067152"/>
            <a:ext cx="5017320" cy="490855"/>
          </a:xfrm>
          <a:prstGeom prst="rect">
            <a:avLst/>
          </a:prstGeom>
        </p:spPr>
        <p:txBody>
          <a:bodyPr lIns="0" tIns="0" rIns="0" bIns="0" rtlCol="0" anchor="t">
            <a:spAutoFit/>
          </a:bodyPr>
          <a:lstStyle/>
          <a:p>
            <a:pPr marL="0" lvl="0" indent="0" algn="ctr">
              <a:lnSpc>
                <a:spcPts val="3920"/>
              </a:lnSpc>
              <a:spcBef>
                <a:spcPct val="0"/>
              </a:spcBef>
            </a:pPr>
            <a:r>
              <a:rPr lang="en-US" sz="2800" b="1">
                <a:solidFill>
                  <a:srgbClr val="0F4662"/>
                </a:solidFill>
                <a:latin typeface="Quicksand Bold"/>
                <a:ea typeface="Quicksand Bold"/>
                <a:cs typeface="Quicksand Bold"/>
                <a:sym typeface="Quicksand Bold"/>
              </a:rPr>
              <a:t>Mohamed Hesham Elgeushy</a:t>
            </a:r>
            <a:endParaRPr lang="en-US" sz="2800" b="1">
              <a:solidFill>
                <a:srgbClr val="0F4662"/>
              </a:solidFill>
              <a:latin typeface="Quicksand Bold"/>
              <a:ea typeface="Quicksand Bold"/>
              <a:cs typeface="Quicksand Bold"/>
              <a:sym typeface="Quicksand Bold"/>
            </a:endParaRPr>
          </a:p>
        </p:txBody>
      </p:sp>
      <p:sp>
        <p:nvSpPr>
          <p:cNvPr id="19" name="Text Box 18"/>
          <p:cNvSpPr txBox="1"/>
          <p:nvPr/>
        </p:nvSpPr>
        <p:spPr>
          <a:xfrm>
            <a:off x="1600200" y="6126480"/>
            <a:ext cx="6096000" cy="485140"/>
          </a:xfrm>
          <a:prstGeom prst="rect">
            <a:avLst/>
          </a:prstGeom>
          <a:noFill/>
        </p:spPr>
        <p:txBody>
          <a:bodyPr wrap="square" rtlCol="0">
            <a:noAutofit/>
          </a:bodyPr>
          <a:p>
            <a:r>
              <a:rPr lang="en-US" sz="2800" b="1">
                <a:solidFill>
                  <a:srgbClr val="0F4662"/>
                </a:solidFill>
                <a:latin typeface="Quicksand Bold"/>
                <a:ea typeface="Quicksand Bold"/>
                <a:cs typeface="Quicksand Bold"/>
                <a:sym typeface="Quicksand Bold"/>
              </a:rPr>
              <a:t>Esraa Waleed</a:t>
            </a:r>
            <a:endParaRPr lang="en-US" sz="2800" b="1">
              <a:solidFill>
                <a:srgbClr val="0F4662"/>
              </a:solidFill>
              <a:latin typeface="Quicksand Bold"/>
              <a:ea typeface="Quicksand Bold"/>
              <a:cs typeface="Quicksand Bold"/>
              <a:sym typeface="Quicksand Bold"/>
            </a:endParaRPr>
          </a:p>
          <a:p>
            <a:r>
              <a:rPr lang="en-US" sz="2800" b="1">
                <a:solidFill>
                  <a:srgbClr val="0F4662"/>
                </a:solidFill>
                <a:latin typeface="Quicksand Bold"/>
                <a:ea typeface="Quicksand Bold"/>
                <a:cs typeface="Quicksand Bold"/>
                <a:sym typeface="Quicksand Bold"/>
              </a:rPr>
              <a:t>Merola Magdy</a:t>
            </a:r>
            <a:endParaRPr lang="en-US" sz="2800" b="1">
              <a:solidFill>
                <a:srgbClr val="0F4662"/>
              </a:solidFill>
              <a:latin typeface="Quicksand Bold"/>
              <a:ea typeface="Quicksand Bold"/>
              <a:cs typeface="Quicksand Bold"/>
              <a:sym typeface="Quicksand Bold"/>
            </a:endParaRPr>
          </a:p>
          <a:p>
            <a:endParaRPr lang="en-US" altLang="en-US" sz="2800" b="1">
              <a:solidFill>
                <a:srgbClr val="0F4662"/>
              </a:solidFill>
              <a:latin typeface="Quicksand Bold"/>
              <a:ea typeface="Quicksand Bold"/>
              <a:cs typeface="Quicksand Bold"/>
              <a:sym typeface="Quicksand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5897880" y="3568974"/>
            <a:ext cx="6492240" cy="0"/>
          </a:xfrm>
          <a:prstGeom prst="line">
            <a:avLst/>
          </a:prstGeom>
          <a:ln w="76200" cap="flat">
            <a:solidFill>
              <a:srgbClr val="0F4662"/>
            </a:solidFill>
            <a:prstDash val="solid"/>
            <a:headEnd type="none" w="sm" len="sm"/>
            <a:tailEnd type="none" w="sm" len="sm"/>
          </a:ln>
        </p:spPr>
      </p:sp>
      <p:sp>
        <p:nvSpPr>
          <p:cNvPr id="3" name="AutoShape 3"/>
          <p:cNvSpPr/>
          <p:nvPr/>
        </p:nvSpPr>
        <p:spPr>
          <a:xfrm>
            <a:off x="5897880" y="7171009"/>
            <a:ext cx="6492240" cy="0"/>
          </a:xfrm>
          <a:prstGeom prst="line">
            <a:avLst/>
          </a:prstGeom>
          <a:ln w="76200" cap="flat">
            <a:solidFill>
              <a:srgbClr val="0F4662"/>
            </a:solidFill>
            <a:prstDash val="solid"/>
            <a:headEnd type="none" w="sm" len="sm"/>
            <a:tailEnd type="none" w="sm" len="sm"/>
          </a:ln>
        </p:spPr>
      </p:sp>
      <p:sp>
        <p:nvSpPr>
          <p:cNvPr id="4" name="Freeform 4"/>
          <p:cNvSpPr/>
          <p:nvPr/>
        </p:nvSpPr>
        <p:spPr>
          <a:xfrm>
            <a:off x="8304001" y="2470557"/>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8304001" y="8019527"/>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4163754" y="4292874"/>
            <a:ext cx="9960491" cy="3057525"/>
          </a:xfrm>
          <a:prstGeom prst="rect">
            <a:avLst/>
          </a:prstGeom>
        </p:spPr>
        <p:txBody>
          <a:bodyPr lIns="0" tIns="0" rIns="0" bIns="0" rtlCol="0" anchor="t">
            <a:spAutoFit/>
          </a:bodyPr>
          <a:lstStyle/>
          <a:p>
            <a:pPr marL="0" lvl="0" indent="0" algn="ctr">
              <a:lnSpc>
                <a:spcPts val="4080"/>
              </a:lnSpc>
            </a:pPr>
            <a:r>
              <a:rPr lang="en-US" sz="2400">
                <a:solidFill>
                  <a:srgbClr val="0F4662"/>
                </a:solidFill>
                <a:latin typeface="Quicksand"/>
                <a:ea typeface="Quicksand"/>
                <a:cs typeface="Quicksand"/>
                <a:sym typeface="Quicksand"/>
              </a:rPr>
              <a:t>Our project aims to analyze, identify, and implement effective techniques to detect and prevent email phishing attacks. We recognize the critical impact of phishing on cybersecurity and intend to explore advanced methods to enhance email security, protect sensitive information, and mitigate potential threats.</a:t>
            </a:r>
            <a:endParaRPr lang="en-US" sz="2400">
              <a:solidFill>
                <a:srgbClr val="0F4662"/>
              </a:solidFill>
              <a:latin typeface="Quicksand"/>
              <a:ea typeface="Quicksand"/>
              <a:cs typeface="Quicksand"/>
              <a:sym typeface="Quicksand"/>
            </a:endParaRPr>
          </a:p>
          <a:p>
            <a:pPr marL="0" lvl="0" indent="0" algn="ctr">
              <a:lnSpc>
                <a:spcPts val="4080"/>
              </a:lnSpc>
            </a:pPr>
          </a:p>
        </p:txBody>
      </p:sp>
      <p:sp>
        <p:nvSpPr>
          <p:cNvPr id="7" name="TextBox 7"/>
          <p:cNvSpPr txBox="1"/>
          <p:nvPr/>
        </p:nvSpPr>
        <p:spPr>
          <a:xfrm>
            <a:off x="1028700" y="599709"/>
            <a:ext cx="8048163" cy="1085215"/>
          </a:xfrm>
          <a:prstGeom prst="rect">
            <a:avLst/>
          </a:prstGeom>
        </p:spPr>
        <p:txBody>
          <a:bodyPr lIns="0" tIns="0" rIns="0" bIns="0" rtlCol="0" anchor="t">
            <a:spAutoFit/>
          </a:bodyPr>
          <a:lstStyle/>
          <a:p>
            <a:pPr marL="0" lvl="0" indent="0" algn="l">
              <a:lnSpc>
                <a:spcPts val="8960"/>
              </a:lnSpc>
              <a:spcBef>
                <a:spcPct val="0"/>
              </a:spcBef>
            </a:pPr>
            <a:r>
              <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rPr>
              <a:t>Introduction</a:t>
            </a:r>
            <a:endPar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rot="0">
            <a:off x="14093893" y="15849"/>
            <a:ext cx="4194107" cy="10271151"/>
            <a:chOff x="0" y="0"/>
            <a:chExt cx="1104621" cy="2705159"/>
          </a:xfrm>
        </p:grpSpPr>
        <p:sp>
          <p:nvSpPr>
            <p:cNvPr id="3" name="Freeform 3"/>
            <p:cNvSpPr/>
            <p:nvPr/>
          </p:nvSpPr>
          <p:spPr>
            <a:xfrm>
              <a:off x="0" y="0"/>
              <a:ext cx="1104621" cy="2705159"/>
            </a:xfrm>
            <a:custGeom>
              <a:avLst/>
              <a:gdLst/>
              <a:ahLst/>
              <a:cxnLst/>
              <a:rect l="l" t="t" r="r" b="b"/>
              <a:pathLst>
                <a:path w="1104621" h="2705159">
                  <a:moveTo>
                    <a:pt x="0" y="0"/>
                  </a:moveTo>
                  <a:lnTo>
                    <a:pt x="1104621" y="0"/>
                  </a:lnTo>
                  <a:lnTo>
                    <a:pt x="1104621" y="2705159"/>
                  </a:lnTo>
                  <a:lnTo>
                    <a:pt x="0" y="2705159"/>
                  </a:lnTo>
                  <a:close/>
                </a:path>
              </a:pathLst>
            </a:custGeom>
            <a:solidFill>
              <a:srgbClr val="7994A0"/>
            </a:solidFill>
          </p:spPr>
        </p:sp>
        <p:sp>
          <p:nvSpPr>
            <p:cNvPr id="4" name="TextBox 4"/>
            <p:cNvSpPr txBox="1"/>
            <p:nvPr/>
          </p:nvSpPr>
          <p:spPr>
            <a:xfrm>
              <a:off x="0" y="-47625"/>
              <a:ext cx="1104621" cy="2752784"/>
            </a:xfrm>
            <a:prstGeom prst="rect">
              <a:avLst/>
            </a:prstGeom>
          </p:spPr>
          <p:txBody>
            <a:bodyPr lIns="50800" tIns="50800" rIns="50800" bIns="50800" rtlCol="0" anchor="ctr"/>
            <a:lstStyle/>
            <a:p>
              <a:pPr algn="ctr">
                <a:lnSpc>
                  <a:spcPts val="3695"/>
                </a:lnSpc>
              </a:pPr>
            </a:p>
          </p:txBody>
        </p:sp>
      </p:grpSp>
      <p:sp>
        <p:nvSpPr>
          <p:cNvPr id="5" name="Freeform 5"/>
          <p:cNvSpPr/>
          <p:nvPr/>
        </p:nvSpPr>
        <p:spPr>
          <a:xfrm>
            <a:off x="1028700" y="8974931"/>
            <a:ext cx="1905000" cy="283369"/>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028700" y="2445597"/>
            <a:ext cx="9569993" cy="5298362"/>
          </a:xfrm>
          <a:prstGeom prst="rect">
            <a:avLst/>
          </a:prstGeom>
        </p:spPr>
        <p:txBody>
          <a:bodyPr lIns="0" tIns="0" rIns="0" bIns="0" rtlCol="0" anchor="t">
            <a:spAutoFit/>
          </a:bodyPr>
          <a:lstStyle/>
          <a:p>
            <a:pPr algn="l">
              <a:lnSpc>
                <a:spcPts val="3255"/>
              </a:lnSpc>
            </a:pPr>
            <a:r>
              <a:rPr lang="en-US" sz="1915">
                <a:solidFill>
                  <a:srgbClr val="0F4662"/>
                </a:solidFill>
                <a:latin typeface="Quicksand"/>
                <a:ea typeface="Quicksand"/>
                <a:cs typeface="Quicksand"/>
                <a:sym typeface="Quicksand"/>
              </a:rPr>
              <a:t>Email phishing has become one of the most prevalent and damaging cybersecurity threats in recent years. Cybercriminals use deceptive emails to trick users into revealing sensitive information such as login credentials, financial data, or personal details. Despite increased awareness and security measures, phishing attacks continue to evolve, becoming more sophisticated and harder to detect. Organizations face significant financial losses, data breaches, and reputational damage due to these attacks.</a:t>
            </a:r>
            <a:endParaRPr lang="en-US" sz="1915">
              <a:solidFill>
                <a:srgbClr val="0F4662"/>
              </a:solidFill>
              <a:latin typeface="Quicksand"/>
              <a:ea typeface="Quicksand"/>
              <a:cs typeface="Quicksand"/>
              <a:sym typeface="Quicksand"/>
            </a:endParaRPr>
          </a:p>
          <a:p>
            <a:pPr marL="0" lvl="0" indent="0" algn="l">
              <a:lnSpc>
                <a:spcPts val="3255"/>
              </a:lnSpc>
            </a:pPr>
            <a:r>
              <a:rPr lang="en-US" sz="1915">
                <a:solidFill>
                  <a:srgbClr val="0F4662"/>
                </a:solidFill>
                <a:latin typeface="Quicksand"/>
                <a:ea typeface="Quicksand"/>
                <a:cs typeface="Quicksand"/>
                <a:sym typeface="Quicksand"/>
              </a:rPr>
              <a:t>This project focuses on analyzing phishing email patterns, understanding the techniques used by attackers, and implementing detection methods to prevent potential threats. By leveraging advanced analytical and machine learning techniques, we aim to enhance email security and provide actionable strategies for phishing prevention.</a:t>
            </a:r>
            <a:endParaRPr lang="en-US" sz="1915">
              <a:solidFill>
                <a:srgbClr val="0F4662"/>
              </a:solidFill>
              <a:latin typeface="Quicksand"/>
              <a:ea typeface="Quicksand"/>
              <a:cs typeface="Quicksand"/>
              <a:sym typeface="Quicksand"/>
            </a:endParaRPr>
          </a:p>
          <a:p>
            <a:pPr marL="0" lvl="0" indent="0" algn="l">
              <a:lnSpc>
                <a:spcPts val="3255"/>
              </a:lnSpc>
            </a:pPr>
          </a:p>
        </p:txBody>
      </p:sp>
      <p:sp>
        <p:nvSpPr>
          <p:cNvPr id="7" name="TextBox 7"/>
          <p:cNvSpPr txBox="1"/>
          <p:nvPr/>
        </p:nvSpPr>
        <p:spPr>
          <a:xfrm>
            <a:off x="1028700" y="599709"/>
            <a:ext cx="9390243" cy="1085215"/>
          </a:xfrm>
          <a:prstGeom prst="rect">
            <a:avLst/>
          </a:prstGeom>
        </p:spPr>
        <p:txBody>
          <a:bodyPr lIns="0" tIns="0" rIns="0" bIns="0" rtlCol="0" anchor="t">
            <a:spAutoFit/>
          </a:bodyPr>
          <a:lstStyle/>
          <a:p>
            <a:pPr marL="0" lvl="0" indent="0" algn="l">
              <a:lnSpc>
                <a:spcPts val="8960"/>
              </a:lnSpc>
              <a:spcBef>
                <a:spcPct val="0"/>
              </a:spcBef>
            </a:pPr>
            <a:r>
              <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rPr>
              <a:t>Background Project</a:t>
            </a:r>
            <a:endPar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endParaRPr>
          </a:p>
        </p:txBody>
      </p:sp>
      <p:sp>
        <p:nvSpPr>
          <p:cNvPr id="8" name="TextBox 8"/>
          <p:cNvSpPr txBox="1"/>
          <p:nvPr/>
        </p:nvSpPr>
        <p:spPr>
          <a:xfrm>
            <a:off x="1028700" y="1948188"/>
            <a:ext cx="6938067" cy="490855"/>
          </a:xfrm>
          <a:prstGeom prst="rect">
            <a:avLst/>
          </a:prstGeom>
        </p:spPr>
        <p:txBody>
          <a:bodyPr lIns="0" tIns="0" rIns="0" bIns="0" rtlCol="0" anchor="t">
            <a:spAutoFit/>
          </a:bodyPr>
          <a:lstStyle/>
          <a:p>
            <a:pPr marL="0" lvl="0" indent="0" algn="l">
              <a:lnSpc>
                <a:spcPts val="3920"/>
              </a:lnSpc>
              <a:spcBef>
                <a:spcPct val="0"/>
              </a:spcBef>
            </a:pPr>
            <a:r>
              <a:rPr lang="en-US" sz="2800" b="1">
                <a:solidFill>
                  <a:srgbClr val="0F4662"/>
                </a:solidFill>
                <a:latin typeface="Quicksand Bold"/>
                <a:ea typeface="Quicksand Bold"/>
                <a:cs typeface="Quicksand Bold"/>
                <a:sym typeface="Quicksand Bold"/>
              </a:rPr>
              <a:t>Current scenario:</a:t>
            </a:r>
            <a:endParaRPr lang="en-US" sz="2800" b="1">
              <a:solidFill>
                <a:srgbClr val="0F4662"/>
              </a:solidFill>
              <a:latin typeface="Quicksand Bold"/>
              <a:ea typeface="Quicksand Bold"/>
              <a:cs typeface="Quicksand Bold"/>
              <a:sym typeface="Quicksand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12072549" y="8455221"/>
            <a:ext cx="4346753" cy="0"/>
          </a:xfrm>
          <a:prstGeom prst="line">
            <a:avLst/>
          </a:prstGeom>
          <a:ln w="57150" cap="flat">
            <a:solidFill>
              <a:srgbClr val="7994A0"/>
            </a:solidFill>
            <a:prstDash val="solid"/>
            <a:headEnd type="none" w="sm" len="sm"/>
            <a:tailEnd type="none" w="sm" len="sm"/>
          </a:ln>
        </p:spPr>
      </p:sp>
      <p:sp>
        <p:nvSpPr>
          <p:cNvPr id="3" name="AutoShape 3"/>
          <p:cNvSpPr/>
          <p:nvPr/>
        </p:nvSpPr>
        <p:spPr>
          <a:xfrm flipV="1">
            <a:off x="1660540" y="8483796"/>
            <a:ext cx="4716390" cy="0"/>
          </a:xfrm>
          <a:prstGeom prst="line">
            <a:avLst/>
          </a:prstGeom>
          <a:ln w="57150" cap="flat">
            <a:solidFill>
              <a:srgbClr val="7994A0"/>
            </a:solidFill>
            <a:prstDash val="solid"/>
            <a:headEnd type="none" w="sm" len="sm"/>
            <a:tailEnd type="none" w="sm" len="sm"/>
          </a:ln>
        </p:spPr>
      </p:sp>
      <p:sp>
        <p:nvSpPr>
          <p:cNvPr id="4" name="TextBox 4"/>
          <p:cNvSpPr txBox="1"/>
          <p:nvPr/>
        </p:nvSpPr>
        <p:spPr>
          <a:xfrm>
            <a:off x="1028700" y="514504"/>
            <a:ext cx="14072064" cy="1085215"/>
          </a:xfrm>
          <a:prstGeom prst="rect">
            <a:avLst/>
          </a:prstGeom>
        </p:spPr>
        <p:txBody>
          <a:bodyPr lIns="0" tIns="0" rIns="0" bIns="0" rtlCol="0" anchor="t">
            <a:spAutoFit/>
          </a:bodyPr>
          <a:lstStyle/>
          <a:p>
            <a:pPr marL="0" lvl="0" indent="0" algn="l">
              <a:lnSpc>
                <a:spcPts val="8960"/>
              </a:lnSpc>
              <a:spcBef>
                <a:spcPct val="0"/>
              </a:spcBef>
            </a:pPr>
            <a:r>
              <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rPr>
              <a:t>Tools, Programming Language, and Platform</a:t>
            </a:r>
            <a:endPar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endParaRPr>
          </a:p>
        </p:txBody>
      </p:sp>
      <p:sp>
        <p:nvSpPr>
          <p:cNvPr id="5" name="TextBox 5"/>
          <p:cNvSpPr txBox="1"/>
          <p:nvPr/>
        </p:nvSpPr>
        <p:spPr>
          <a:xfrm>
            <a:off x="1187293" y="1764415"/>
            <a:ext cx="15820743" cy="3279898"/>
          </a:xfrm>
          <a:prstGeom prst="rect">
            <a:avLst/>
          </a:prstGeom>
        </p:spPr>
        <p:txBody>
          <a:bodyPr lIns="0" tIns="0" rIns="0" bIns="0" rtlCol="0" anchor="t">
            <a:spAutoFit/>
          </a:bodyPr>
          <a:lstStyle/>
          <a:p>
            <a:pPr algn="just">
              <a:lnSpc>
                <a:spcPts val="3640"/>
              </a:lnSpc>
            </a:pPr>
            <a:r>
              <a:rPr lang="en-US" sz="2600" b="1">
                <a:solidFill>
                  <a:srgbClr val="0F4662"/>
                </a:solidFill>
                <a:latin typeface="Quicksand Bold"/>
                <a:ea typeface="Quicksand Bold"/>
                <a:cs typeface="Quicksand Bold"/>
                <a:sym typeface="Quicksand Bold"/>
              </a:rPr>
              <a:t>1. Tools Used:</a:t>
            </a:r>
            <a:endParaRPr lang="en-US" sz="2600" b="1">
              <a:solidFill>
                <a:srgbClr val="0F4662"/>
              </a:solidFill>
              <a:latin typeface="Quicksand Bold"/>
              <a:ea typeface="Quicksand Bold"/>
              <a:cs typeface="Quicksand Bold"/>
              <a:sym typeface="Quicksand Bold"/>
            </a:endParaRPr>
          </a:p>
          <a:p>
            <a:pPr marL="561340" lvl="1" indent="-280670" algn="just">
              <a:lnSpc>
                <a:spcPts val="3640"/>
              </a:lnSpc>
              <a:buFont typeface="Arial" panose="020B0604020202020204"/>
              <a:buChar char="•"/>
            </a:pPr>
            <a:r>
              <a:rPr lang="en-US" sz="2600" b="1">
                <a:solidFill>
                  <a:srgbClr val="0F4662"/>
                </a:solidFill>
                <a:latin typeface="Quicksand Bold"/>
                <a:ea typeface="Quicksand Bold"/>
                <a:cs typeface="Quicksand Bold"/>
                <a:sym typeface="Quicksand Bold"/>
              </a:rPr>
              <a:t>Phishing Email Dataset: </a:t>
            </a:r>
            <a:r>
              <a:rPr lang="en-US" sz="2600" b="1">
                <a:solidFill>
                  <a:srgbClr val="0F4662"/>
                </a:solidFill>
                <a:latin typeface="Quicksand Bold"/>
                <a:ea typeface="Quicksand Bold"/>
                <a:cs typeface="Quicksand Bold"/>
                <a:sym typeface="Quicksand Bold"/>
              </a:rPr>
              <a:t>Collection of real and simulated phishing emails for analysis.</a:t>
            </a:r>
            <a:endParaRPr lang="en-US" sz="2600" b="1">
              <a:solidFill>
                <a:srgbClr val="0F4662"/>
              </a:solidFill>
              <a:latin typeface="Quicksand Bold"/>
              <a:ea typeface="Quicksand Bold"/>
              <a:cs typeface="Quicksand Bold"/>
              <a:sym typeface="Quicksand Bold"/>
            </a:endParaRPr>
          </a:p>
          <a:p>
            <a:pPr marL="561340" lvl="1" indent="-280670" algn="just">
              <a:lnSpc>
                <a:spcPts val="3640"/>
              </a:lnSpc>
              <a:buFont typeface="Arial" panose="020B0604020202020204"/>
              <a:buChar char="•"/>
            </a:pPr>
            <a:r>
              <a:rPr lang="en-US" sz="2600" b="1">
                <a:solidFill>
                  <a:srgbClr val="0F4662"/>
                </a:solidFill>
                <a:latin typeface="Quicksand Bold"/>
                <a:ea typeface="Quicksand Bold"/>
                <a:cs typeface="Quicksand Bold"/>
                <a:sym typeface="Quicksand Bold"/>
              </a:rPr>
              <a:t>Email Analysis Tools: Tools like PhishTank, SpamAssassin, and MailTester for email verification and feature extraction.</a:t>
            </a:r>
            <a:endParaRPr lang="en-US" sz="2600" b="1">
              <a:solidFill>
                <a:srgbClr val="0F4662"/>
              </a:solidFill>
              <a:latin typeface="Quicksand Bold"/>
              <a:ea typeface="Quicksand Bold"/>
              <a:cs typeface="Quicksand Bold"/>
              <a:sym typeface="Quicksand Bold"/>
            </a:endParaRPr>
          </a:p>
          <a:p>
            <a:pPr marL="561340" lvl="1" indent="-280670" algn="just">
              <a:lnSpc>
                <a:spcPts val="3640"/>
              </a:lnSpc>
              <a:buFont typeface="Arial" panose="020B0604020202020204"/>
              <a:buChar char="•"/>
            </a:pPr>
            <a:r>
              <a:rPr lang="en-US" sz="2600" b="1">
                <a:solidFill>
                  <a:srgbClr val="0F4662"/>
                </a:solidFill>
                <a:latin typeface="Quicksand Bold"/>
                <a:ea typeface="Quicksand Bold"/>
                <a:cs typeface="Quicksand Bold"/>
                <a:sym typeface="Quicksand Bold"/>
              </a:rPr>
              <a:t>Machine Learning Libraries: Libraries such as scikit-learn, pandas, NumPy, and TensorFlow for data processing and model building.</a:t>
            </a:r>
            <a:endParaRPr lang="en-US" sz="2600" b="1">
              <a:solidFill>
                <a:srgbClr val="0F4662"/>
              </a:solidFill>
              <a:latin typeface="Quicksand Bold"/>
              <a:ea typeface="Quicksand Bold"/>
              <a:cs typeface="Quicksand Bold"/>
              <a:sym typeface="Quicksand Bold"/>
            </a:endParaRPr>
          </a:p>
          <a:p>
            <a:pPr marL="0" lvl="0" indent="0" algn="r">
              <a:lnSpc>
                <a:spcPts val="4395"/>
              </a:lnSpc>
              <a:spcBef>
                <a:spcPct val="0"/>
              </a:spcBef>
            </a:pPr>
          </a:p>
        </p:txBody>
      </p:sp>
      <p:sp>
        <p:nvSpPr>
          <p:cNvPr id="6" name="Freeform 6"/>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1575177" y="4725543"/>
            <a:ext cx="16297513" cy="2277110"/>
          </a:xfrm>
          <a:prstGeom prst="rect">
            <a:avLst/>
          </a:prstGeom>
        </p:spPr>
        <p:txBody>
          <a:bodyPr lIns="0" tIns="0" rIns="0" bIns="0" rtlCol="0" anchor="t">
            <a:spAutoFit/>
          </a:bodyPr>
          <a:lstStyle/>
          <a:p>
            <a:pPr algn="l">
              <a:lnSpc>
                <a:spcPts val="3640"/>
              </a:lnSpc>
              <a:spcBef>
                <a:spcPct val="0"/>
              </a:spcBef>
            </a:pPr>
            <a:r>
              <a:rPr lang="en-US" sz="2600" b="1">
                <a:solidFill>
                  <a:srgbClr val="0F4662"/>
                </a:solidFill>
                <a:latin typeface="Quicksand Bold"/>
                <a:ea typeface="Quicksand Bold"/>
                <a:cs typeface="Quicksand Bold"/>
                <a:sym typeface="Quicksand Bold"/>
              </a:rPr>
              <a:t>2. Programming Language:</a:t>
            </a:r>
            <a:endParaRPr lang="en-US" sz="2600" b="1">
              <a:solidFill>
                <a:srgbClr val="0F4662"/>
              </a:solidFill>
              <a:latin typeface="Quicksand Bold"/>
              <a:ea typeface="Quicksand Bold"/>
              <a:cs typeface="Quicksand Bold"/>
              <a:sym typeface="Quicksand Bold"/>
            </a:endParaRPr>
          </a:p>
          <a:p>
            <a:pPr algn="l">
              <a:lnSpc>
                <a:spcPts val="3640"/>
              </a:lnSpc>
              <a:spcBef>
                <a:spcPct val="0"/>
              </a:spcBef>
            </a:pPr>
            <a:r>
              <a:rPr lang="en-US" sz="2600" b="1">
                <a:solidFill>
                  <a:srgbClr val="0F4662"/>
                </a:solidFill>
                <a:latin typeface="Quicksand Bold"/>
                <a:ea typeface="Quicksand Bold"/>
                <a:cs typeface="Quicksand Bold"/>
                <a:sym typeface="Quicksand Bold"/>
              </a:rPr>
              <a:t>Python – chosen for its versatility, extensive libraries for data analysis, and machine learning support.</a:t>
            </a:r>
            <a:endParaRPr lang="en-US" sz="2600" b="1">
              <a:solidFill>
                <a:srgbClr val="0F4662"/>
              </a:solidFill>
              <a:latin typeface="Quicksand Bold"/>
              <a:ea typeface="Quicksand Bold"/>
              <a:cs typeface="Quicksand Bold"/>
              <a:sym typeface="Quicksand Bold"/>
            </a:endParaRPr>
          </a:p>
          <a:p>
            <a:pPr algn="l">
              <a:lnSpc>
                <a:spcPts val="3640"/>
              </a:lnSpc>
              <a:spcBef>
                <a:spcPct val="0"/>
              </a:spcBef>
            </a:pPr>
            <a:r>
              <a:rPr lang="en-US" sz="2600" b="1">
                <a:solidFill>
                  <a:srgbClr val="0F4662"/>
                </a:solidFill>
                <a:latin typeface="Quicksand Bold"/>
                <a:ea typeface="Quicksand Bold"/>
                <a:cs typeface="Quicksand Bold"/>
                <a:sym typeface="Quicksand Bold"/>
              </a:rPr>
              <a:t>3. Platform / Website:</a:t>
            </a:r>
            <a:endParaRPr lang="en-US" sz="2600" b="1">
              <a:solidFill>
                <a:srgbClr val="0F4662"/>
              </a:solidFill>
              <a:latin typeface="Quicksand Bold"/>
              <a:ea typeface="Quicksand Bold"/>
              <a:cs typeface="Quicksand Bold"/>
              <a:sym typeface="Quicksand Bold"/>
            </a:endParaRPr>
          </a:p>
          <a:p>
            <a:pPr algn="l">
              <a:lnSpc>
                <a:spcPts val="3640"/>
              </a:lnSpc>
              <a:spcBef>
                <a:spcPct val="0"/>
              </a:spcBef>
            </a:pPr>
            <a:r>
              <a:rPr lang="en-US" sz="2600" b="1">
                <a:solidFill>
                  <a:srgbClr val="0F4662"/>
                </a:solidFill>
                <a:latin typeface="Quicksand Bold"/>
                <a:ea typeface="Quicksand Bold"/>
                <a:cs typeface="Quicksand Bold"/>
                <a:sym typeface="Quicksand Bold"/>
              </a:rPr>
              <a:t>file:///C:/Users/Mohamed%20Hesham/Desktop/DEPI_Proj/prj/Email_phishing.DEPI/ui/index.html</a:t>
            </a:r>
            <a:endParaRPr lang="en-US" sz="2600" b="1">
              <a:solidFill>
                <a:srgbClr val="0F4662"/>
              </a:solidFill>
              <a:latin typeface="Quicksand Bold"/>
              <a:ea typeface="Quicksand Bold"/>
              <a:cs typeface="Quicksand Bold"/>
              <a:sym typeface="Quicksand Bold"/>
            </a:endParaRPr>
          </a:p>
          <a:p>
            <a:pPr algn="l">
              <a:lnSpc>
                <a:spcPts val="3640"/>
              </a:lnSpc>
              <a:spcBef>
                <a:spcPct val="0"/>
              </a:spcBef>
            </a:pPr>
            <a:r>
              <a:rPr lang="en-US" sz="2600" b="1">
                <a:solidFill>
                  <a:srgbClr val="0F4662"/>
                </a:solidFill>
                <a:latin typeface="Quicksand Bold"/>
                <a:ea typeface="Quicksand Bold"/>
                <a:cs typeface="Quicksand Bold"/>
                <a:sym typeface="Quicksand Bold"/>
              </a:rPr>
              <a:t>Jupyter Notebook – used for coding, visualization, and interactive analysis.</a:t>
            </a:r>
            <a:endParaRPr lang="en-US" sz="2600" b="1">
              <a:solidFill>
                <a:srgbClr val="0F4662"/>
              </a:solidFill>
              <a:latin typeface="Quicksand Bold"/>
              <a:ea typeface="Quicksand Bold"/>
              <a:cs typeface="Quicksand Bold"/>
              <a:sym typeface="Quicksand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custDataLst>
              <p:tags r:id="rId1"/>
            </p:custDataLst>
          </p:nvPr>
        </p:nvGrpSpPr>
        <p:grpSpPr>
          <a:xfrm rot="0">
            <a:off x="886761" y="2456695"/>
            <a:ext cx="5385764" cy="6426664"/>
            <a:chOff x="0" y="0"/>
            <a:chExt cx="1418473" cy="1692619"/>
          </a:xfrm>
        </p:grpSpPr>
        <p:sp>
          <p:nvSpPr>
            <p:cNvPr id="3" name="Freeform 3"/>
            <p:cNvSpPr/>
            <p:nvPr>
              <p:custDataLst>
                <p:tags r:id="rId2"/>
              </p:custDataLst>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sp>
        <p:sp>
          <p:nvSpPr>
            <p:cNvPr id="4" name="TextBox 4"/>
            <p:cNvSpPr txBox="1"/>
            <p:nvPr/>
          </p:nvSpPr>
          <p:spPr>
            <a:xfrm>
              <a:off x="0" y="-123825"/>
              <a:ext cx="1418473" cy="1816444"/>
            </a:xfrm>
            <a:prstGeom prst="rect">
              <a:avLst/>
            </a:prstGeom>
          </p:spPr>
          <p:txBody>
            <a:bodyPr lIns="50800" tIns="50800" rIns="50800" bIns="50800" rtlCol="0" anchor="ctr"/>
            <a:lstStyle/>
            <a:p>
              <a:pPr algn="ctr">
                <a:lnSpc>
                  <a:spcPts val="4080"/>
                </a:lnSpc>
              </a:pPr>
            </a:p>
          </p:txBody>
        </p:sp>
      </p:grpSp>
      <p:sp>
        <p:nvSpPr>
          <p:cNvPr id="5" name="Freeform 5"/>
          <p:cNvSpPr/>
          <p:nvPr>
            <p:custDataLst>
              <p:tags r:id="rId3"/>
            </p:custDataLst>
          </p:nvPr>
        </p:nvSpPr>
        <p:spPr>
          <a:xfrm>
            <a:off x="2405199" y="2877488"/>
            <a:ext cx="2348889" cy="2348889"/>
          </a:xfrm>
          <a:custGeom>
            <a:avLst/>
            <a:gdLst/>
            <a:ahLst/>
            <a:cxnLst/>
            <a:rect l="l" t="t" r="r" b="b"/>
            <a:pathLst>
              <a:path w="2348889" h="2348889">
                <a:moveTo>
                  <a:pt x="0" y="0"/>
                </a:moveTo>
                <a:lnTo>
                  <a:pt x="2348889" y="0"/>
                </a:lnTo>
                <a:lnTo>
                  <a:pt x="2348889" y="2348889"/>
                </a:lnTo>
                <a:lnTo>
                  <a:pt x="0" y="23488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custDataLst>
              <p:tags r:id="rId6"/>
            </p:custDataLst>
          </p:nvPr>
        </p:nvGrpSpPr>
        <p:grpSpPr>
          <a:xfrm rot="0">
            <a:off x="6451118" y="2456695"/>
            <a:ext cx="5385764" cy="6426664"/>
            <a:chOff x="0" y="0"/>
            <a:chExt cx="1418473" cy="1692619"/>
          </a:xfrm>
        </p:grpSpPr>
        <p:sp>
          <p:nvSpPr>
            <p:cNvPr id="7" name="Freeform 7"/>
            <p:cNvSpPr/>
            <p:nvPr>
              <p:custDataLst>
                <p:tags r:id="rId7"/>
              </p:custDataLst>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A9BECB"/>
            </a:solidFill>
          </p:spPr>
        </p:sp>
        <p:sp>
          <p:nvSpPr>
            <p:cNvPr id="8" name="TextBox 8"/>
            <p:cNvSpPr txBox="1"/>
            <p:nvPr/>
          </p:nvSpPr>
          <p:spPr>
            <a:xfrm>
              <a:off x="0" y="-123825"/>
              <a:ext cx="1418473" cy="1816444"/>
            </a:xfrm>
            <a:prstGeom prst="rect">
              <a:avLst/>
            </a:prstGeom>
          </p:spPr>
          <p:txBody>
            <a:bodyPr lIns="50800" tIns="50800" rIns="50800" bIns="50800" rtlCol="0" anchor="ctr"/>
            <a:lstStyle/>
            <a:p>
              <a:pPr algn="ctr">
                <a:lnSpc>
                  <a:spcPts val="4080"/>
                </a:lnSpc>
              </a:pPr>
            </a:p>
          </p:txBody>
        </p:sp>
      </p:grpSp>
      <p:sp>
        <p:nvSpPr>
          <p:cNvPr id="9" name="Freeform 9"/>
          <p:cNvSpPr/>
          <p:nvPr>
            <p:custDataLst>
              <p:tags r:id="rId8"/>
            </p:custDataLst>
          </p:nvPr>
        </p:nvSpPr>
        <p:spPr>
          <a:xfrm>
            <a:off x="7984503" y="2877488"/>
            <a:ext cx="2318994" cy="2348889"/>
          </a:xfrm>
          <a:custGeom>
            <a:avLst/>
            <a:gdLst/>
            <a:ahLst/>
            <a:cxnLst/>
            <a:rect l="l" t="t" r="r" b="b"/>
            <a:pathLst>
              <a:path w="2318994" h="2348889">
                <a:moveTo>
                  <a:pt x="0" y="0"/>
                </a:moveTo>
                <a:lnTo>
                  <a:pt x="2318994" y="0"/>
                </a:lnTo>
                <a:lnTo>
                  <a:pt x="2318994" y="2348889"/>
                </a:lnTo>
                <a:lnTo>
                  <a:pt x="0" y="23488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10" name="Group 10"/>
          <p:cNvGrpSpPr/>
          <p:nvPr>
            <p:custDataLst>
              <p:tags r:id="rId11"/>
            </p:custDataLst>
          </p:nvPr>
        </p:nvGrpSpPr>
        <p:grpSpPr>
          <a:xfrm rot="0">
            <a:off x="12015470" y="2456815"/>
            <a:ext cx="5529580" cy="7291705"/>
            <a:chOff x="0" y="0"/>
            <a:chExt cx="1418473" cy="1692619"/>
          </a:xfrm>
        </p:grpSpPr>
        <p:sp>
          <p:nvSpPr>
            <p:cNvPr id="11" name="Freeform 11"/>
            <p:cNvSpPr/>
            <p:nvPr>
              <p:custDataLst>
                <p:tags r:id="rId12"/>
              </p:custDataLst>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sp>
        <p:sp>
          <p:nvSpPr>
            <p:cNvPr id="12" name="TextBox 12"/>
            <p:cNvSpPr txBox="1"/>
            <p:nvPr/>
          </p:nvSpPr>
          <p:spPr>
            <a:xfrm>
              <a:off x="0" y="-123825"/>
              <a:ext cx="1418473" cy="1816444"/>
            </a:xfrm>
            <a:prstGeom prst="rect">
              <a:avLst/>
            </a:prstGeom>
          </p:spPr>
          <p:txBody>
            <a:bodyPr lIns="50800" tIns="50800" rIns="50800" bIns="50800" rtlCol="0" anchor="ctr"/>
            <a:lstStyle/>
            <a:p>
              <a:pPr algn="ctr">
                <a:lnSpc>
                  <a:spcPts val="4080"/>
                </a:lnSpc>
              </a:pPr>
            </a:p>
          </p:txBody>
        </p:sp>
      </p:grpSp>
      <p:sp>
        <p:nvSpPr>
          <p:cNvPr id="13" name="Freeform 13"/>
          <p:cNvSpPr/>
          <p:nvPr>
            <p:custDataLst>
              <p:tags r:id="rId13"/>
            </p:custDataLst>
          </p:nvPr>
        </p:nvSpPr>
        <p:spPr>
          <a:xfrm>
            <a:off x="13595029" y="3088463"/>
            <a:ext cx="2226655" cy="2226655"/>
          </a:xfrm>
          <a:custGeom>
            <a:avLst/>
            <a:gdLst/>
            <a:ahLst/>
            <a:cxnLst/>
            <a:rect l="l" t="t" r="r" b="b"/>
            <a:pathLst>
              <a:path w="2226655" h="2226655">
                <a:moveTo>
                  <a:pt x="0" y="0"/>
                </a:moveTo>
                <a:lnTo>
                  <a:pt x="2226655" y="0"/>
                </a:lnTo>
                <a:lnTo>
                  <a:pt x="2226655" y="2226655"/>
                </a:lnTo>
                <a:lnTo>
                  <a:pt x="0" y="222665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4" name="TextBox 14"/>
          <p:cNvSpPr txBox="1"/>
          <p:nvPr/>
        </p:nvSpPr>
        <p:spPr>
          <a:xfrm>
            <a:off x="1028700" y="599709"/>
            <a:ext cx="8115300" cy="1085215"/>
          </a:xfrm>
          <a:prstGeom prst="rect">
            <a:avLst/>
          </a:prstGeom>
        </p:spPr>
        <p:txBody>
          <a:bodyPr lIns="0" tIns="0" rIns="0" bIns="0" rtlCol="0" anchor="t">
            <a:spAutoFit/>
          </a:bodyPr>
          <a:lstStyle/>
          <a:p>
            <a:pPr marL="0" lvl="0" indent="0" algn="l">
              <a:lnSpc>
                <a:spcPts val="8960"/>
              </a:lnSpc>
              <a:spcBef>
                <a:spcPct val="0"/>
              </a:spcBef>
            </a:pPr>
            <a:r>
              <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rPr>
              <a:t>Project Objectives</a:t>
            </a:r>
            <a:endPar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endParaRPr>
          </a:p>
        </p:txBody>
      </p:sp>
      <p:sp>
        <p:nvSpPr>
          <p:cNvPr id="15" name="TextBox 15"/>
          <p:cNvSpPr txBox="1"/>
          <p:nvPr>
            <p:custDataLst>
              <p:tags r:id="rId16"/>
            </p:custDataLst>
          </p:nvPr>
        </p:nvSpPr>
        <p:spPr>
          <a:xfrm>
            <a:off x="1028700" y="5919392"/>
            <a:ext cx="5101887" cy="2092325"/>
          </a:xfrm>
          <a:prstGeom prst="rect">
            <a:avLst/>
          </a:prstGeom>
        </p:spPr>
        <p:txBody>
          <a:bodyPr lIns="0" tIns="0" rIns="0" bIns="0" rtlCol="0" anchor="t">
            <a:spAutoFit/>
          </a:bodyPr>
          <a:lstStyle/>
          <a:p>
            <a:pPr marL="518160" lvl="1" indent="-259080" algn="l">
              <a:lnSpc>
                <a:spcPts val="4080"/>
              </a:lnSpc>
              <a:buFont typeface="Arial" panose="020B0604020202020204"/>
              <a:buChar char="•"/>
            </a:pPr>
            <a:r>
              <a:rPr lang="en-US" altLang="en-GB" sz="2400">
                <a:solidFill>
                  <a:srgbClr val="0F4662"/>
                </a:solidFill>
                <a:latin typeface="Quicksand"/>
                <a:ea typeface="Quicksand"/>
                <a:cs typeface="Quicksand"/>
                <a:sym typeface="Quicksand"/>
              </a:rPr>
              <a:t>• Web-based Dashboard (HTML/CSS/JS)   </a:t>
            </a:r>
            <a:endParaRPr lang="en-US" altLang="en-US" sz="2400">
              <a:solidFill>
                <a:srgbClr val="0F4662"/>
              </a:solidFill>
              <a:latin typeface="Quicksand"/>
              <a:ea typeface="Quicksand"/>
              <a:cs typeface="Quicksand"/>
              <a:sym typeface="Quicksand"/>
            </a:endParaRPr>
          </a:p>
          <a:p>
            <a:pPr marL="259080" lvl="1" indent="0" algn="l">
              <a:lnSpc>
                <a:spcPts val="4080"/>
              </a:lnSpc>
              <a:buFont typeface="Arial" panose="020B0604020202020204"/>
              <a:buNone/>
            </a:pPr>
            <a:r>
              <a:rPr lang="en-US" altLang="en-GB" sz="2400">
                <a:solidFill>
                  <a:srgbClr val="0F4662"/>
                </a:solidFill>
                <a:latin typeface="Quicksand"/>
                <a:ea typeface="Quicksand"/>
                <a:cs typeface="Quicksand"/>
                <a:sym typeface="Quicksand"/>
              </a:rPr>
              <a:t>  • Real-time Risk Visualization        </a:t>
            </a:r>
            <a:endParaRPr lang="en-US" altLang="en-US" sz="2400">
              <a:solidFill>
                <a:srgbClr val="0F4662"/>
              </a:solidFill>
              <a:latin typeface="Quicksand"/>
              <a:ea typeface="Quicksand"/>
              <a:cs typeface="Quicksand"/>
              <a:sym typeface="Quicksand"/>
            </a:endParaRPr>
          </a:p>
          <a:p>
            <a:pPr marL="259080" lvl="1" indent="0" algn="l">
              <a:lnSpc>
                <a:spcPts val="4080"/>
              </a:lnSpc>
              <a:buFont typeface="Arial" panose="020B0604020202020204"/>
              <a:buNone/>
            </a:pPr>
            <a:r>
              <a:rPr lang="en-US" altLang="en-GB" sz="2400">
                <a:solidFill>
                  <a:srgbClr val="0F4662"/>
                </a:solidFill>
                <a:latin typeface="Quicksand"/>
                <a:ea typeface="Quicksand"/>
                <a:cs typeface="Quicksand"/>
                <a:sym typeface="Quicksand"/>
              </a:rPr>
              <a:t> • Interactive Report Generation</a:t>
            </a:r>
            <a:endParaRPr lang="en-US" altLang="en-GB" sz="2400">
              <a:solidFill>
                <a:srgbClr val="0F4662"/>
              </a:solidFill>
              <a:latin typeface="Quicksand"/>
              <a:ea typeface="Quicksand"/>
              <a:cs typeface="Quicksand"/>
              <a:sym typeface="Quicksand"/>
            </a:endParaRPr>
          </a:p>
        </p:txBody>
      </p:sp>
      <p:sp>
        <p:nvSpPr>
          <p:cNvPr id="16" name="TextBox 16"/>
          <p:cNvSpPr txBox="1"/>
          <p:nvPr>
            <p:custDataLst>
              <p:tags r:id="rId17"/>
            </p:custDataLst>
          </p:nvPr>
        </p:nvSpPr>
        <p:spPr>
          <a:xfrm>
            <a:off x="914400" y="5428615"/>
            <a:ext cx="5101590" cy="490855"/>
          </a:xfrm>
          <a:prstGeom prst="rect">
            <a:avLst/>
          </a:prstGeom>
        </p:spPr>
        <p:txBody>
          <a:bodyPr lIns="0" tIns="0" rIns="0" bIns="0" rtlCol="0" anchor="t">
            <a:noAutofit/>
          </a:bodyPr>
          <a:lstStyle/>
          <a:p>
            <a:pPr marL="0" lvl="0" indent="0" algn="l">
              <a:lnSpc>
                <a:spcPts val="3920"/>
              </a:lnSpc>
              <a:spcBef>
                <a:spcPct val="0"/>
              </a:spcBef>
            </a:pPr>
            <a:r>
              <a:rPr lang="en-US" altLang="en-US" sz="2800" b="1">
                <a:solidFill>
                  <a:srgbClr val="0F4662"/>
                </a:solidFill>
                <a:latin typeface="Quicksand Bold"/>
                <a:ea typeface="Quicksand Bold"/>
                <a:cs typeface="Quicksand Bold"/>
                <a:sym typeface="Quicksand Bold"/>
              </a:rPr>
              <a:t>│</a:t>
            </a:r>
            <a:r>
              <a:rPr lang="en-US" altLang="en-GB" sz="2800" b="1">
                <a:solidFill>
                  <a:srgbClr val="0F4662"/>
                </a:solidFill>
                <a:latin typeface="Quicksand Bold"/>
                <a:ea typeface="Quicksand Bold"/>
                <a:cs typeface="Quicksand Bold"/>
                <a:sym typeface="Quicksand Bold"/>
              </a:rPr>
              <a:t>           User Interface Layer          </a:t>
            </a:r>
            <a:endParaRPr lang="en-US" altLang="en-US" sz="2800" b="1">
              <a:solidFill>
                <a:srgbClr val="0F4662"/>
              </a:solidFill>
              <a:latin typeface="Quicksand Bold"/>
              <a:ea typeface="Quicksand Bold"/>
              <a:cs typeface="Quicksand Bold"/>
              <a:sym typeface="Quicksand Bold"/>
            </a:endParaRPr>
          </a:p>
        </p:txBody>
      </p:sp>
      <p:sp>
        <p:nvSpPr>
          <p:cNvPr id="17" name="TextBox 17"/>
          <p:cNvSpPr txBox="1"/>
          <p:nvPr>
            <p:custDataLst>
              <p:tags r:id="rId18"/>
            </p:custDataLst>
          </p:nvPr>
        </p:nvSpPr>
        <p:spPr>
          <a:xfrm>
            <a:off x="6593057" y="5919392"/>
            <a:ext cx="5101887" cy="1569085"/>
          </a:xfrm>
          <a:prstGeom prst="rect">
            <a:avLst/>
          </a:prstGeom>
        </p:spPr>
        <p:txBody>
          <a:bodyPr lIns="0" tIns="0" rIns="0" bIns="0" rtlCol="0" anchor="t">
            <a:spAutoFit/>
          </a:bodyPr>
          <a:lstStyle/>
          <a:p>
            <a:pPr marL="518160" lvl="1" indent="-259080" algn="l">
              <a:lnSpc>
                <a:spcPts val="4080"/>
              </a:lnSpc>
              <a:buFont typeface="Arial" panose="020B0604020202020204"/>
              <a:buChar char="•"/>
            </a:pPr>
            <a:r>
              <a:rPr lang="en-US" altLang="en-GB" sz="2400">
                <a:solidFill>
                  <a:srgbClr val="0F4662"/>
                </a:solidFill>
                <a:latin typeface="Quicksand"/>
                <a:ea typeface="Quicksand"/>
                <a:cs typeface="Quicksand"/>
                <a:sym typeface="Quicksand"/>
              </a:rPr>
              <a:t> FastAPI RESTful endpoints              •  Asynchronous file processing         </a:t>
            </a:r>
            <a:endParaRPr lang="en-US" altLang="en-US" sz="2400">
              <a:solidFill>
                <a:srgbClr val="0F4662"/>
              </a:solidFill>
              <a:latin typeface="Quicksand"/>
              <a:ea typeface="Quicksand"/>
              <a:cs typeface="Quicksand"/>
              <a:sym typeface="Quicksand"/>
            </a:endParaRPr>
          </a:p>
          <a:p>
            <a:pPr marL="259080" lvl="1" indent="0" algn="l">
              <a:lnSpc>
                <a:spcPts val="4080"/>
              </a:lnSpc>
              <a:buFont typeface="Arial" panose="020B0604020202020204"/>
              <a:buNone/>
            </a:pPr>
            <a:r>
              <a:rPr lang="en-US" altLang="en-GB" sz="2400">
                <a:solidFill>
                  <a:srgbClr val="0F4662"/>
                </a:solidFill>
                <a:latin typeface="Quicksand"/>
                <a:ea typeface="Quicksand"/>
                <a:cs typeface="Quicksand"/>
                <a:sym typeface="Quicksand"/>
              </a:rPr>
              <a:t>  • JSON response formatting</a:t>
            </a:r>
            <a:endParaRPr lang="en-US" altLang="en-GB" sz="2400">
              <a:solidFill>
                <a:srgbClr val="0F4662"/>
              </a:solidFill>
              <a:latin typeface="Quicksand"/>
              <a:ea typeface="Quicksand"/>
              <a:cs typeface="Quicksand"/>
              <a:sym typeface="Quicksand"/>
            </a:endParaRPr>
          </a:p>
        </p:txBody>
      </p:sp>
      <p:sp>
        <p:nvSpPr>
          <p:cNvPr id="18" name="TextBox 18"/>
          <p:cNvSpPr txBox="1"/>
          <p:nvPr>
            <p:custDataLst>
              <p:tags r:id="rId19"/>
            </p:custDataLst>
          </p:nvPr>
        </p:nvSpPr>
        <p:spPr>
          <a:xfrm>
            <a:off x="6593057" y="5580494"/>
            <a:ext cx="5101887" cy="502285"/>
          </a:xfrm>
          <a:prstGeom prst="rect">
            <a:avLst/>
          </a:prstGeom>
        </p:spPr>
        <p:txBody>
          <a:bodyPr lIns="0" tIns="0" rIns="0" bIns="0" rtlCol="0" anchor="t">
            <a:spAutoFit/>
          </a:bodyPr>
          <a:lstStyle/>
          <a:p>
            <a:pPr marL="0" lvl="0" indent="0" algn="l">
              <a:lnSpc>
                <a:spcPts val="3920"/>
              </a:lnSpc>
              <a:spcBef>
                <a:spcPct val="0"/>
              </a:spcBef>
            </a:pPr>
            <a:r>
              <a:rPr lang="en-US" altLang="en-GB" sz="2800" b="1">
                <a:solidFill>
                  <a:srgbClr val="0F4662"/>
                </a:solidFill>
                <a:latin typeface="Quicksand Bold"/>
                <a:ea typeface="Quicksand Bold"/>
                <a:cs typeface="Quicksand Bold"/>
                <a:sym typeface="Quicksand Bold"/>
              </a:rPr>
              <a:t>API Service Layer</a:t>
            </a:r>
            <a:endParaRPr lang="en-US" altLang="en-GB" sz="2800" b="1">
              <a:solidFill>
                <a:srgbClr val="0F4662"/>
              </a:solidFill>
              <a:latin typeface="Quicksand Bold"/>
              <a:ea typeface="Quicksand Bold"/>
              <a:cs typeface="Quicksand Bold"/>
              <a:sym typeface="Quicksand Bold"/>
            </a:endParaRPr>
          </a:p>
        </p:txBody>
      </p:sp>
      <p:sp>
        <p:nvSpPr>
          <p:cNvPr id="19" name="TextBox 19"/>
          <p:cNvSpPr txBox="1"/>
          <p:nvPr>
            <p:custDataLst>
              <p:tags r:id="rId20"/>
            </p:custDataLst>
          </p:nvPr>
        </p:nvSpPr>
        <p:spPr>
          <a:xfrm>
            <a:off x="12157710" y="6223000"/>
            <a:ext cx="4511675" cy="2414905"/>
          </a:xfrm>
          <a:prstGeom prst="rect">
            <a:avLst/>
          </a:prstGeom>
        </p:spPr>
        <p:txBody>
          <a:bodyPr lIns="0" tIns="0" rIns="0" bIns="0" rtlCol="0" anchor="t">
            <a:noAutofit/>
          </a:bodyPr>
          <a:lstStyle/>
          <a:p>
            <a:pPr marL="518160" lvl="1" indent="-259080" algn="l">
              <a:lnSpc>
                <a:spcPts val="4080"/>
              </a:lnSpc>
              <a:buFont typeface="Arial" panose="020B0604020202020204"/>
              <a:buChar char="•"/>
            </a:pPr>
            <a:r>
              <a:rPr lang="en-US" altLang="en-GB" sz="2400">
                <a:solidFill>
                  <a:srgbClr val="0F4662"/>
                </a:solidFill>
                <a:latin typeface="Quicksand"/>
                <a:ea typeface="Quicksand"/>
                <a:cs typeface="Quicksand"/>
                <a:sym typeface="Quicksand"/>
              </a:rPr>
              <a:t>Email Parsing &amp; Content Extraction  </a:t>
            </a:r>
            <a:endParaRPr lang="en-US" altLang="en-US" sz="2400">
              <a:solidFill>
                <a:srgbClr val="0F4662"/>
              </a:solidFill>
              <a:latin typeface="Quicksand"/>
              <a:ea typeface="Quicksand"/>
              <a:cs typeface="Quicksand"/>
              <a:sym typeface="Quicksand"/>
            </a:endParaRPr>
          </a:p>
          <a:p>
            <a:pPr marL="259080" lvl="1" indent="0" algn="l">
              <a:lnSpc>
                <a:spcPts val="4080"/>
              </a:lnSpc>
              <a:buFont typeface="Arial" panose="020B0604020202020204"/>
              <a:buNone/>
            </a:pPr>
            <a:r>
              <a:rPr lang="en-US" altLang="en-GB" sz="2400">
                <a:solidFill>
                  <a:srgbClr val="0F4662"/>
                </a:solidFill>
                <a:latin typeface="Quicksand"/>
                <a:ea typeface="Quicksand"/>
                <a:cs typeface="Quicksand"/>
                <a:sym typeface="Quicksand"/>
              </a:rPr>
              <a:t> • Parallel Inspection Modules            • Weighted Risk Scoring Algorithm    </a:t>
            </a:r>
            <a:endParaRPr lang="en-US" altLang="en-GB" sz="2400">
              <a:solidFill>
                <a:srgbClr val="0F4662"/>
              </a:solidFill>
              <a:latin typeface="Quicksand"/>
              <a:ea typeface="Quicksand"/>
              <a:cs typeface="Quicksand"/>
              <a:sym typeface="Quicksand"/>
            </a:endParaRPr>
          </a:p>
          <a:p>
            <a:pPr marL="259080" lvl="1" indent="0" algn="l">
              <a:lnSpc>
                <a:spcPts val="4080"/>
              </a:lnSpc>
              <a:buFont typeface="Arial" panose="020B0604020202020204"/>
              <a:buNone/>
            </a:pPr>
            <a:r>
              <a:rPr lang="en-US" altLang="en-GB" sz="2400">
                <a:solidFill>
                  <a:srgbClr val="0F4662"/>
                </a:solidFill>
                <a:latin typeface="Quicksand"/>
                <a:ea typeface="Quicksand"/>
                <a:cs typeface="Quicksand"/>
                <a:sym typeface="Quicksand"/>
              </a:rPr>
              <a:t> • Decision Making Logic</a:t>
            </a:r>
            <a:endParaRPr lang="en-US" altLang="en-GB" sz="2400">
              <a:solidFill>
                <a:srgbClr val="0F4662"/>
              </a:solidFill>
              <a:latin typeface="Quicksand"/>
              <a:ea typeface="Quicksand"/>
              <a:cs typeface="Quicksand"/>
              <a:sym typeface="Quicksand"/>
            </a:endParaRPr>
          </a:p>
        </p:txBody>
      </p:sp>
      <p:sp>
        <p:nvSpPr>
          <p:cNvPr id="20" name="TextBox 20"/>
          <p:cNvSpPr txBox="1"/>
          <p:nvPr>
            <p:custDataLst>
              <p:tags r:id="rId21"/>
            </p:custDataLst>
          </p:nvPr>
        </p:nvSpPr>
        <p:spPr>
          <a:xfrm>
            <a:off x="12191703" y="5580490"/>
            <a:ext cx="5101887" cy="502285"/>
          </a:xfrm>
          <a:prstGeom prst="rect">
            <a:avLst/>
          </a:prstGeom>
        </p:spPr>
        <p:txBody>
          <a:bodyPr lIns="0" tIns="0" rIns="0" bIns="0" rtlCol="0" anchor="t">
            <a:spAutoFit/>
          </a:bodyPr>
          <a:lstStyle/>
          <a:p>
            <a:pPr marL="0" lvl="0" indent="0" algn="l">
              <a:lnSpc>
                <a:spcPts val="3920"/>
              </a:lnSpc>
              <a:spcBef>
                <a:spcPct val="0"/>
              </a:spcBef>
            </a:pPr>
            <a:r>
              <a:rPr lang="en-US" altLang="en-GB" sz="2800" b="1">
                <a:solidFill>
                  <a:srgbClr val="0F4662"/>
                </a:solidFill>
                <a:latin typeface="Quicksand Bold"/>
                <a:ea typeface="Quicksand Bold"/>
                <a:cs typeface="Quicksand Bold"/>
                <a:sym typeface="Quicksand Bold"/>
              </a:rPr>
              <a:t>Core Analysis Engine</a:t>
            </a:r>
            <a:endParaRPr lang="en-US" altLang="en-GB" sz="2800" b="1">
              <a:solidFill>
                <a:srgbClr val="0F4662"/>
              </a:solidFill>
              <a:latin typeface="Quicksand Bold"/>
              <a:ea typeface="Quicksand Bold"/>
              <a:cs typeface="Quicksand Bold"/>
              <a:sym typeface="Quicksand Bold"/>
            </a:endParaRPr>
          </a:p>
        </p:txBody>
      </p:sp>
      <p:sp>
        <p:nvSpPr>
          <p:cNvPr id="21" name="AutoShape 21"/>
          <p:cNvSpPr/>
          <p:nvPr/>
        </p:nvSpPr>
        <p:spPr>
          <a:xfrm>
            <a:off x="10767060" y="990600"/>
            <a:ext cx="6492240" cy="0"/>
          </a:xfrm>
          <a:prstGeom prst="line">
            <a:avLst/>
          </a:prstGeom>
          <a:ln w="76200" cap="flat">
            <a:solidFill>
              <a:srgbClr val="0F4662"/>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1836420" y="1383030"/>
            <a:ext cx="14615160" cy="7520940"/>
          </a:xfrm>
          <a:prstGeom prst="rect">
            <a:avLst/>
          </a:prstGeom>
        </p:spPr>
      </p:pic>
      <p:sp>
        <p:nvSpPr>
          <p:cNvPr id="4" name="Text Box 3"/>
          <p:cNvSpPr txBox="1"/>
          <p:nvPr/>
        </p:nvSpPr>
        <p:spPr>
          <a:xfrm>
            <a:off x="1752600" y="495300"/>
            <a:ext cx="6096000" cy="1322070"/>
          </a:xfrm>
          <a:prstGeom prst="rect">
            <a:avLst/>
          </a:prstGeom>
          <a:noFill/>
        </p:spPr>
        <p:txBody>
          <a:bodyPr wrap="square" rtlCol="0">
            <a:spAutoFit/>
          </a:bodyPr>
          <a:p>
            <a:r>
              <a:rPr lang="en-US" altLang="en-GB" sz="4000" b="1" i="1"/>
              <a:t>Backend Stack:</a:t>
            </a:r>
            <a:endParaRPr lang="en-US" altLang="en-GB" sz="4000" b="1" i="1"/>
          </a:p>
          <a:p>
            <a:endParaRPr lang="en-US" altLang="en-GB" sz="4000" b="1" i="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rot="0">
            <a:off x="228600" y="737235"/>
            <a:ext cx="14649450" cy="9199880"/>
            <a:chOff x="0" y="0"/>
            <a:chExt cx="2050899" cy="2423013"/>
          </a:xfrm>
        </p:grpSpPr>
        <p:sp>
          <p:nvSpPr>
            <p:cNvPr id="3" name="Freeform 3"/>
            <p:cNvSpPr/>
            <p:nvPr/>
          </p:nvSpPr>
          <p:spPr>
            <a:xfrm>
              <a:off x="0" y="0"/>
              <a:ext cx="2050899" cy="2423013"/>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A9BECB"/>
            </a:solidFill>
          </p:spPr>
        </p:sp>
        <p:sp>
          <p:nvSpPr>
            <p:cNvPr id="4" name="TextBox 4"/>
            <p:cNvSpPr txBox="1"/>
            <p:nvPr/>
          </p:nvSpPr>
          <p:spPr>
            <a:xfrm>
              <a:off x="140484" y="197346"/>
              <a:ext cx="1809233" cy="2074647"/>
            </a:xfrm>
            <a:prstGeom prst="rect">
              <a:avLst/>
            </a:prstGeom>
          </p:spPr>
          <p:txBody>
            <a:bodyPr lIns="50800" tIns="50800" rIns="50800" bIns="50800" rtlCol="0" anchor="ctr"/>
            <a:lstStyle/>
            <a:p>
              <a:pPr algn="l">
                <a:lnSpc>
                  <a:spcPts val="4080"/>
                </a:lnSpc>
              </a:pPr>
              <a:r>
                <a:rPr lang="en-US" altLang="en-GB" sz="3000" b="1"/>
                <a:t>Python 3.8+</a:t>
              </a:r>
              <a:endParaRPr lang="en-US" altLang="en-GB" sz="3000" b="1"/>
            </a:p>
            <a:p>
              <a:pPr algn="l">
                <a:lnSpc>
                  <a:spcPts val="4080"/>
                </a:lnSpc>
              </a:pPr>
              <a:r>
                <a:rPr lang="en-US" altLang="en-GB" sz="2200" b="1"/>
                <a:t>• FastAPI (Web framework)</a:t>
              </a:r>
              <a:endParaRPr lang="en-US" altLang="en-GB" sz="2200" b="1"/>
            </a:p>
            <a:p>
              <a:pPr algn="l">
                <a:lnSpc>
                  <a:spcPts val="4080"/>
                </a:lnSpc>
              </a:pPr>
              <a:r>
                <a:rPr lang="en-US" altLang="en-GB" sz="2200" b="1"/>
                <a:t>• Email parsing library</a:t>
              </a:r>
              <a:endParaRPr lang="en-US" altLang="en-GB" sz="2200" b="1"/>
            </a:p>
            <a:p>
              <a:pPr algn="l">
                <a:lnSpc>
                  <a:spcPts val="4080"/>
                </a:lnSpc>
              </a:pPr>
              <a:r>
                <a:rPr lang="en-US" altLang="en-GB" sz="2200" b="1"/>
                <a:t>• Regex for pattern matching</a:t>
              </a:r>
              <a:endParaRPr lang="en-US" altLang="en-GB" sz="2200" b="1"/>
            </a:p>
            <a:p>
              <a:pPr algn="l">
                <a:lnSpc>
                  <a:spcPts val="4080"/>
                </a:lnSpc>
              </a:pPr>
              <a:r>
                <a:rPr lang="en-US" altLang="en-GB" sz="2200" b="1"/>
                <a:t>• TLDextract for domain analysis</a:t>
              </a:r>
              <a:endParaRPr lang="en-US" altLang="en-GB" sz="2200" b="1"/>
            </a:p>
            <a:p>
              <a:pPr algn="l">
                <a:lnSpc>
                  <a:spcPts val="4080"/>
                </a:lnSpc>
              </a:pPr>
              <a:endParaRPr lang="en-US" altLang="en-GB" b="1"/>
            </a:p>
            <a:p>
              <a:pPr algn="l">
                <a:lnSpc>
                  <a:spcPts val="4080"/>
                </a:lnSpc>
              </a:pPr>
              <a:r>
                <a:rPr lang="en-US" altLang="en-GB" sz="3000" b="1"/>
                <a:t>Core Modules:</a:t>
              </a:r>
              <a:endParaRPr lang="en-US" altLang="en-GB" sz="3000" b="1"/>
            </a:p>
            <a:p>
              <a:pPr algn="l">
                <a:lnSpc>
                  <a:spcPts val="4080"/>
                </a:lnSpc>
              </a:pPr>
              <a:r>
                <a:rPr lang="en-US" altLang="en-GB" sz="2200" b="1"/>
                <a:t>• mail_parser.py - Email structure parsing</a:t>
              </a:r>
              <a:endParaRPr lang="en-US" altLang="en-GB" sz="2200" b="1"/>
            </a:p>
            <a:p>
              <a:pPr algn="l">
                <a:lnSpc>
                  <a:spcPts val="4080"/>
                </a:lnSpc>
              </a:pPr>
              <a:r>
                <a:rPr lang="en-US" altLang="en-GB" sz="2200" b="1"/>
                <a:t>• engine.py - Central coordination &amp; scoring</a:t>
              </a:r>
              <a:endParaRPr lang="en-US" altLang="en-GB" sz="2200" b="1"/>
            </a:p>
            <a:p>
              <a:pPr algn="l">
                <a:lnSpc>
                  <a:spcPts val="4080"/>
                </a:lnSpc>
              </a:pPr>
              <a:r>
                <a:rPr lang="en-US" altLang="en-GB" sz="2200" b="1"/>
                <a:t>• link_inspector.py - URL threat analysis</a:t>
              </a:r>
              <a:endParaRPr lang="en-US" altLang="en-GB" sz="2200" b="1"/>
            </a:p>
            <a:p>
              <a:pPr algn="l">
                <a:lnSpc>
                  <a:spcPts val="4080"/>
                </a:lnSpc>
              </a:pPr>
              <a:r>
                <a:rPr lang="en-US" altLang="en-GB" sz="2200" b="1"/>
                <a:t>• hdr_inspector.py - Header authentication</a:t>
              </a:r>
              <a:endParaRPr lang="en-US" altLang="en-GB" sz="2200" b="1"/>
            </a:p>
            <a:p>
              <a:pPr algn="l">
                <a:lnSpc>
                  <a:spcPts val="4080"/>
                </a:lnSpc>
              </a:pPr>
              <a:r>
                <a:rPr lang="en-US" altLang="en-GB" sz="2200" b="1"/>
                <a:t>• text_inspector.py - Content analysis</a:t>
              </a:r>
              <a:endParaRPr lang="en-US" altLang="en-GB" sz="2200" b="1"/>
            </a:p>
            <a:p>
              <a:pPr algn="l">
                <a:lnSpc>
                  <a:spcPts val="4080"/>
                </a:lnSpc>
              </a:pPr>
              <a:r>
                <a:rPr lang="en-US" altLang="en-GB" sz="2200" b="1"/>
                <a:t>• attach_inspector.py - File safety checks</a:t>
              </a:r>
              <a:endParaRPr lang="en-US" altLang="en-GB" sz="2200" b="1"/>
            </a:p>
          </p:txBody>
        </p:sp>
      </p:grpSp>
      <p:sp>
        <p:nvSpPr>
          <p:cNvPr id="15" name="AutoShape 15"/>
          <p:cNvSpPr/>
          <p:nvPr/>
        </p:nvSpPr>
        <p:spPr>
          <a:xfrm>
            <a:off x="838200" y="9944100"/>
            <a:ext cx="6492240" cy="0"/>
          </a:xfrm>
          <a:prstGeom prst="line">
            <a:avLst/>
          </a:prstGeom>
          <a:ln w="76200" cap="flat">
            <a:solidFill>
              <a:srgbClr val="0F4662"/>
            </a:solidFill>
            <a:prstDash val="solid"/>
            <a:headEnd type="none" w="sm" len="sm"/>
            <a:tailEnd type="none" w="sm" len="sm"/>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rot="0">
            <a:off x="13660651" y="0"/>
            <a:ext cx="4627349" cy="10287000"/>
            <a:chOff x="0" y="0"/>
            <a:chExt cx="1218726" cy="2709333"/>
          </a:xfrm>
        </p:grpSpPr>
        <p:sp>
          <p:nvSpPr>
            <p:cNvPr id="3" name="Freeform 3"/>
            <p:cNvSpPr/>
            <p:nvPr/>
          </p:nvSpPr>
          <p:spPr>
            <a:xfrm>
              <a:off x="0" y="0"/>
              <a:ext cx="1218726" cy="2709333"/>
            </a:xfrm>
            <a:custGeom>
              <a:avLst/>
              <a:gdLst/>
              <a:ahLst/>
              <a:cxnLst/>
              <a:rect l="l" t="t" r="r" b="b"/>
              <a:pathLst>
                <a:path w="1218726" h="2709333">
                  <a:moveTo>
                    <a:pt x="0" y="0"/>
                  </a:moveTo>
                  <a:lnTo>
                    <a:pt x="1218726" y="0"/>
                  </a:lnTo>
                  <a:lnTo>
                    <a:pt x="1218726" y="2709333"/>
                  </a:lnTo>
                  <a:lnTo>
                    <a:pt x="0" y="2709333"/>
                  </a:lnTo>
                  <a:close/>
                </a:path>
              </a:pathLst>
            </a:custGeom>
            <a:solidFill>
              <a:srgbClr val="7994A0"/>
            </a:solidFill>
          </p:spPr>
        </p:sp>
        <p:sp>
          <p:nvSpPr>
            <p:cNvPr id="4" name="TextBox 4"/>
            <p:cNvSpPr txBox="1"/>
            <p:nvPr/>
          </p:nvSpPr>
          <p:spPr>
            <a:xfrm>
              <a:off x="0" y="-123825"/>
              <a:ext cx="1218726" cy="2833158"/>
            </a:xfrm>
            <a:prstGeom prst="rect">
              <a:avLst/>
            </a:prstGeom>
          </p:spPr>
          <p:txBody>
            <a:bodyPr lIns="50800" tIns="50800" rIns="50800" bIns="50800" rtlCol="0" anchor="ctr"/>
            <a:lstStyle/>
            <a:p>
              <a:pPr algn="ctr">
                <a:lnSpc>
                  <a:spcPts val="4080"/>
                </a:lnSpc>
              </a:pPr>
            </a:p>
          </p:txBody>
        </p:sp>
      </p:grpSp>
      <p:sp>
        <p:nvSpPr>
          <p:cNvPr id="5" name="TextBox 5"/>
          <p:cNvSpPr txBox="1"/>
          <p:nvPr/>
        </p:nvSpPr>
        <p:spPr>
          <a:xfrm>
            <a:off x="1028700" y="599709"/>
            <a:ext cx="5702843" cy="1085215"/>
          </a:xfrm>
          <a:prstGeom prst="rect">
            <a:avLst/>
          </a:prstGeom>
        </p:spPr>
        <p:txBody>
          <a:bodyPr lIns="0" tIns="0" rIns="0" bIns="0" rtlCol="0" anchor="t">
            <a:spAutoFit/>
          </a:bodyPr>
          <a:lstStyle/>
          <a:p>
            <a:pPr marL="0" lvl="0" indent="0" algn="l">
              <a:lnSpc>
                <a:spcPts val="8960"/>
              </a:lnSpc>
              <a:spcBef>
                <a:spcPct val="0"/>
              </a:spcBef>
            </a:pPr>
            <a:r>
              <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rPr>
              <a:t>Methodology</a:t>
            </a:r>
            <a:endPar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endParaRPr>
          </a:p>
        </p:txBody>
      </p:sp>
      <p:sp>
        <p:nvSpPr>
          <p:cNvPr id="6" name="TextBox 6"/>
          <p:cNvSpPr txBox="1"/>
          <p:nvPr/>
        </p:nvSpPr>
        <p:spPr>
          <a:xfrm>
            <a:off x="1028700" y="2434248"/>
            <a:ext cx="10527757" cy="1000125"/>
          </a:xfrm>
          <a:prstGeom prst="rect">
            <a:avLst/>
          </a:prstGeom>
        </p:spPr>
        <p:txBody>
          <a:bodyPr lIns="0" tIns="0" rIns="0" bIns="0" rtlCol="0" anchor="t">
            <a:spAutoFit/>
          </a:bodyPr>
          <a:lstStyle/>
          <a:p>
            <a:pPr marL="518160" lvl="1" indent="-259080" algn="l">
              <a:lnSpc>
                <a:spcPts val="4080"/>
              </a:lnSpc>
              <a:buFont typeface="Arial" panose="020B0604020202020204"/>
              <a:buChar char="•"/>
            </a:pPr>
            <a:r>
              <a:rPr lang="en-US" sz="2400">
                <a:solidFill>
                  <a:srgbClr val="0F4662"/>
                </a:solidFill>
                <a:latin typeface="Quicksand"/>
                <a:ea typeface="Quicksand"/>
                <a:cs typeface="Quicksand"/>
                <a:sym typeface="Quicksand"/>
              </a:rPr>
              <a:t>Gather phishing and legitimate email datasets from sources </a:t>
            </a:r>
            <a:r>
              <a:rPr lang="en-US" sz="2400">
                <a:solidFill>
                  <a:srgbClr val="0F4662"/>
                </a:solidFill>
                <a:latin typeface="Quicksand"/>
                <a:ea typeface="Quicksand"/>
                <a:cs typeface="Quicksand"/>
                <a:sym typeface="Quicksand"/>
              </a:rPr>
              <a:t>like PhishTank, SpamAssassin, and other publicly available datasets.</a:t>
            </a:r>
            <a:endParaRPr lang="en-US" sz="2400">
              <a:solidFill>
                <a:srgbClr val="0F4662"/>
              </a:solidFill>
              <a:latin typeface="Quicksand"/>
              <a:ea typeface="Quicksand"/>
              <a:cs typeface="Quicksand"/>
              <a:sym typeface="Quicksand"/>
            </a:endParaRPr>
          </a:p>
        </p:txBody>
      </p:sp>
      <p:sp>
        <p:nvSpPr>
          <p:cNvPr id="7" name="TextBox 7"/>
          <p:cNvSpPr txBox="1"/>
          <p:nvPr/>
        </p:nvSpPr>
        <p:spPr>
          <a:xfrm>
            <a:off x="1028700" y="4180498"/>
            <a:ext cx="10527757" cy="2028825"/>
          </a:xfrm>
          <a:prstGeom prst="rect">
            <a:avLst/>
          </a:prstGeom>
        </p:spPr>
        <p:txBody>
          <a:bodyPr lIns="0" tIns="0" rIns="0" bIns="0" rtlCol="0" anchor="t">
            <a:spAutoFit/>
          </a:bodyPr>
          <a:lstStyle/>
          <a:p>
            <a:pPr marL="518160" lvl="1" indent="-259080" algn="l">
              <a:lnSpc>
                <a:spcPts val="4080"/>
              </a:lnSpc>
              <a:buFont typeface="Arial" panose="020B0604020202020204"/>
              <a:buChar char="•"/>
            </a:pPr>
            <a:r>
              <a:rPr lang="en-US" sz="2400">
                <a:solidFill>
                  <a:srgbClr val="0F4662"/>
                </a:solidFill>
                <a:latin typeface="Quicksand"/>
                <a:ea typeface="Quicksand"/>
                <a:cs typeface="Quicksand"/>
                <a:sym typeface="Quicksand"/>
              </a:rPr>
              <a:t>Clean and normalize email data (remove duplicates, irrelevant content, and standardize text).</a:t>
            </a:r>
            <a:endParaRPr lang="en-US" sz="2400">
              <a:solidFill>
                <a:srgbClr val="0F4662"/>
              </a:solidFill>
              <a:latin typeface="Quicksand"/>
              <a:ea typeface="Quicksand"/>
              <a:cs typeface="Quicksand"/>
              <a:sym typeface="Quicksand"/>
            </a:endParaRPr>
          </a:p>
          <a:p>
            <a:pPr marL="518160" lvl="1" indent="-259080" algn="l">
              <a:lnSpc>
                <a:spcPts val="4080"/>
              </a:lnSpc>
              <a:buFont typeface="Arial" panose="020B0604020202020204"/>
              <a:buChar char="•"/>
            </a:pPr>
            <a:r>
              <a:rPr lang="en-US" sz="2400">
                <a:solidFill>
                  <a:srgbClr val="0F4662"/>
                </a:solidFill>
                <a:latin typeface="Quicksand"/>
                <a:ea typeface="Quicksand"/>
                <a:cs typeface="Quicksand"/>
                <a:sym typeface="Quicksand"/>
              </a:rPr>
              <a:t>Ext</a:t>
            </a:r>
            <a:r>
              <a:rPr lang="en-US" sz="2400">
                <a:solidFill>
                  <a:srgbClr val="0F4662"/>
                </a:solidFill>
                <a:latin typeface="Quicksand"/>
                <a:ea typeface="Quicksand"/>
                <a:cs typeface="Quicksand"/>
                <a:sym typeface="Quicksand"/>
              </a:rPr>
              <a:t>ract relevant features such as sender information, subject line, links, and content patterns.</a:t>
            </a:r>
            <a:endParaRPr lang="en-US" sz="2400">
              <a:solidFill>
                <a:srgbClr val="0F4662"/>
              </a:solidFill>
              <a:latin typeface="Quicksand"/>
              <a:ea typeface="Quicksand"/>
              <a:cs typeface="Quicksand"/>
              <a:sym typeface="Quicksand"/>
            </a:endParaRPr>
          </a:p>
        </p:txBody>
      </p:sp>
      <p:sp>
        <p:nvSpPr>
          <p:cNvPr id="8" name="TextBox 8"/>
          <p:cNvSpPr txBox="1"/>
          <p:nvPr/>
        </p:nvSpPr>
        <p:spPr>
          <a:xfrm>
            <a:off x="1028700" y="1914818"/>
            <a:ext cx="10527757" cy="490855"/>
          </a:xfrm>
          <a:prstGeom prst="rect">
            <a:avLst/>
          </a:prstGeom>
        </p:spPr>
        <p:txBody>
          <a:bodyPr lIns="0" tIns="0" rIns="0" bIns="0" rtlCol="0" anchor="t">
            <a:spAutoFit/>
          </a:bodyPr>
          <a:lstStyle/>
          <a:p>
            <a:pPr marL="0" lvl="0" indent="0" algn="l">
              <a:lnSpc>
                <a:spcPts val="3920"/>
              </a:lnSpc>
              <a:spcBef>
                <a:spcPct val="0"/>
              </a:spcBef>
            </a:pPr>
            <a:r>
              <a:rPr lang="en-US" sz="2800" b="1">
                <a:solidFill>
                  <a:srgbClr val="0F4662"/>
                </a:solidFill>
                <a:latin typeface="Quicksand Bold"/>
                <a:ea typeface="Quicksand Bold"/>
                <a:cs typeface="Quicksand Bold"/>
                <a:sym typeface="Quicksand Bold"/>
              </a:rPr>
              <a:t>Data Collection:</a:t>
            </a:r>
            <a:endParaRPr lang="en-US" sz="2800" b="1">
              <a:solidFill>
                <a:srgbClr val="0F4662"/>
              </a:solidFill>
              <a:latin typeface="Quicksand Bold"/>
              <a:ea typeface="Quicksand Bold"/>
              <a:cs typeface="Quicksand Bold"/>
              <a:sym typeface="Quicksand Bold"/>
            </a:endParaRPr>
          </a:p>
        </p:txBody>
      </p:sp>
      <p:sp>
        <p:nvSpPr>
          <p:cNvPr id="9" name="TextBox 9"/>
          <p:cNvSpPr txBox="1"/>
          <p:nvPr/>
        </p:nvSpPr>
        <p:spPr>
          <a:xfrm>
            <a:off x="1028700" y="3586773"/>
            <a:ext cx="10527757" cy="1165225"/>
          </a:xfrm>
          <a:prstGeom prst="rect">
            <a:avLst/>
          </a:prstGeom>
        </p:spPr>
        <p:txBody>
          <a:bodyPr lIns="0" tIns="0" rIns="0" bIns="0" rtlCol="0" anchor="t">
            <a:spAutoFit/>
          </a:bodyPr>
          <a:lstStyle/>
          <a:p>
            <a:pPr marL="0" lvl="0" indent="0" algn="l">
              <a:lnSpc>
                <a:spcPts val="4760"/>
              </a:lnSpc>
            </a:pPr>
            <a:r>
              <a:rPr lang="en-US" sz="2800" b="1">
                <a:solidFill>
                  <a:srgbClr val="0F4662"/>
                </a:solidFill>
                <a:latin typeface="Quicksand Bold"/>
                <a:ea typeface="Quicksand Bold"/>
                <a:cs typeface="Quicksand Bold"/>
                <a:sym typeface="Quicksand Bold"/>
              </a:rPr>
              <a:t>Data Preprocessing:</a:t>
            </a:r>
            <a:endParaRPr lang="en-US" sz="2800" b="1">
              <a:solidFill>
                <a:srgbClr val="0F4662"/>
              </a:solidFill>
              <a:latin typeface="Quicksand Bold"/>
              <a:ea typeface="Quicksand Bold"/>
              <a:cs typeface="Quicksand Bold"/>
              <a:sym typeface="Quicksand Bold"/>
            </a:endParaRPr>
          </a:p>
          <a:p>
            <a:pPr marL="0" lvl="0" indent="0" algn="l">
              <a:lnSpc>
                <a:spcPts val="4760"/>
              </a:lnSpc>
            </a:pPr>
          </a:p>
        </p:txBody>
      </p:sp>
      <p:sp>
        <p:nvSpPr>
          <p:cNvPr id="10" name="TextBox 10"/>
          <p:cNvSpPr txBox="1"/>
          <p:nvPr/>
        </p:nvSpPr>
        <p:spPr>
          <a:xfrm>
            <a:off x="1028700" y="6361723"/>
            <a:ext cx="10527757" cy="3565525"/>
          </a:xfrm>
          <a:prstGeom prst="rect">
            <a:avLst/>
          </a:prstGeom>
        </p:spPr>
        <p:txBody>
          <a:bodyPr lIns="0" tIns="0" rIns="0" bIns="0" rtlCol="0" anchor="t">
            <a:spAutoFit/>
          </a:bodyPr>
          <a:lstStyle/>
          <a:p>
            <a:pPr marL="0" lvl="0" indent="0" algn="l">
              <a:lnSpc>
                <a:spcPts val="4760"/>
              </a:lnSpc>
            </a:pPr>
            <a:r>
              <a:rPr lang="en-US" sz="2800" b="1">
                <a:solidFill>
                  <a:srgbClr val="0F4662"/>
                </a:solidFill>
                <a:latin typeface="Quicksand Bold"/>
                <a:ea typeface="Quicksand Bold"/>
                <a:cs typeface="Quicksand Bold"/>
                <a:sym typeface="Quicksand Bold"/>
              </a:rPr>
              <a:t>Feature Engineering:</a:t>
            </a:r>
            <a:endParaRPr lang="en-US" sz="2800" b="1">
              <a:solidFill>
                <a:srgbClr val="0F4662"/>
              </a:solidFill>
              <a:latin typeface="Quicksand Bold"/>
              <a:ea typeface="Quicksand Bold"/>
              <a:cs typeface="Quicksand Bold"/>
              <a:sym typeface="Quicksand Bold"/>
            </a:endParaRPr>
          </a:p>
          <a:p>
            <a:pPr marL="604520" lvl="1" indent="-302260" algn="l">
              <a:lnSpc>
                <a:spcPts val="4760"/>
              </a:lnSpc>
              <a:buFont typeface="Arial" panose="020B0604020202020204"/>
              <a:buChar char="•"/>
            </a:pPr>
            <a:r>
              <a:rPr lang="en-US" sz="2800" b="1" u="none" strike="noStrike">
                <a:solidFill>
                  <a:srgbClr val="0F4662"/>
                </a:solidFill>
                <a:latin typeface="Quicksand Bold"/>
                <a:ea typeface="Quicksand Bold"/>
                <a:cs typeface="Quicksand Bold"/>
                <a:sym typeface="Quicksand Bold"/>
              </a:rPr>
              <a:t>Identify key indicators of phishing emails (e.g., suspicious URLs, unusual sender addresses, misleading subjects).</a:t>
            </a:r>
            <a:endParaRPr lang="en-US" sz="2800" b="1" u="none" strike="noStrike">
              <a:solidFill>
                <a:srgbClr val="0F4662"/>
              </a:solidFill>
              <a:latin typeface="Quicksand Bold"/>
              <a:ea typeface="Quicksand Bold"/>
              <a:cs typeface="Quicksand Bold"/>
              <a:sym typeface="Quicksand Bold"/>
            </a:endParaRPr>
          </a:p>
          <a:p>
            <a:pPr marL="604520" lvl="1" indent="-302260" algn="l">
              <a:lnSpc>
                <a:spcPts val="4760"/>
              </a:lnSpc>
              <a:buFont typeface="Arial" panose="020B0604020202020204"/>
              <a:buChar char="•"/>
            </a:pPr>
            <a:r>
              <a:rPr lang="en-US" sz="2800" b="1" u="none" strike="noStrike">
                <a:solidFill>
                  <a:srgbClr val="0F4662"/>
                </a:solidFill>
                <a:latin typeface="Quicksand Bold"/>
                <a:ea typeface="Quicksand Bold"/>
                <a:cs typeface="Quicksand Bold"/>
                <a:sym typeface="Quicksand Bold"/>
              </a:rPr>
              <a:t>Convert textual data into numerical representations suitable for machine learning models.</a:t>
            </a:r>
            <a:endParaRPr lang="en-US" sz="2800" b="1" u="none" strike="noStrike">
              <a:solidFill>
                <a:srgbClr val="0F4662"/>
              </a:solidFill>
              <a:latin typeface="Quicksand Bold"/>
              <a:ea typeface="Quicksand Bold"/>
              <a:cs typeface="Quicksand Bold"/>
              <a:sym typeface="Quicksand Bold"/>
            </a:endParaRPr>
          </a:p>
          <a:p>
            <a:pPr marL="0" lvl="0" indent="0" algn="l">
              <a:lnSpc>
                <a:spcPts val="4760"/>
              </a:lnSpc>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1028700" y="9741523"/>
            <a:ext cx="6492240" cy="0"/>
          </a:xfrm>
          <a:prstGeom prst="line">
            <a:avLst/>
          </a:prstGeom>
          <a:ln w="76200" cap="flat">
            <a:solidFill>
              <a:srgbClr val="0F4662"/>
            </a:solidFill>
            <a:prstDash val="solid"/>
            <a:headEnd type="none" w="sm" len="sm"/>
            <a:tailEnd type="none" w="sm" len="sm"/>
          </a:ln>
        </p:spPr>
      </p:sp>
      <p:sp>
        <p:nvSpPr>
          <p:cNvPr id="3" name="AutoShape 3"/>
          <p:cNvSpPr/>
          <p:nvPr/>
        </p:nvSpPr>
        <p:spPr>
          <a:xfrm>
            <a:off x="10767060" y="1028700"/>
            <a:ext cx="6492240" cy="0"/>
          </a:xfrm>
          <a:prstGeom prst="line">
            <a:avLst/>
          </a:prstGeom>
          <a:ln w="76200" cap="flat">
            <a:solidFill>
              <a:srgbClr val="0F4662"/>
            </a:solidFill>
            <a:prstDash val="solid"/>
            <a:headEnd type="none" w="sm" len="sm"/>
            <a:tailEnd type="none" w="sm" len="sm"/>
          </a:ln>
        </p:spPr>
      </p:sp>
      <p:pic>
        <p:nvPicPr>
          <p:cNvPr id="4" name="Picture 4">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rcRect/>
          <a:stretch>
            <a:fillRect/>
          </a:stretch>
        </p:blipFill>
        <p:spPr>
          <a:xfrm>
            <a:off x="1028700" y="1684924"/>
            <a:ext cx="16230600" cy="8115300"/>
          </a:xfrm>
          <a:prstGeom prst="rect">
            <a:avLst/>
          </a:prstGeom>
        </p:spPr>
      </p:pic>
      <p:sp>
        <p:nvSpPr>
          <p:cNvPr id="5" name="TextBox 5"/>
          <p:cNvSpPr txBox="1"/>
          <p:nvPr/>
        </p:nvSpPr>
        <p:spPr>
          <a:xfrm>
            <a:off x="1028700" y="599709"/>
            <a:ext cx="9480749" cy="1085215"/>
          </a:xfrm>
          <a:prstGeom prst="rect">
            <a:avLst/>
          </a:prstGeom>
        </p:spPr>
        <p:txBody>
          <a:bodyPr lIns="0" tIns="0" rIns="0" bIns="0" rtlCol="0" anchor="t">
            <a:spAutoFit/>
          </a:bodyPr>
          <a:lstStyle/>
          <a:p>
            <a:pPr marL="0" lvl="0" indent="0" algn="l">
              <a:lnSpc>
                <a:spcPts val="8960"/>
              </a:lnSpc>
              <a:spcBef>
                <a:spcPct val="0"/>
              </a:spcBef>
            </a:pPr>
            <a:r>
              <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rPr>
              <a:t>Simulation</a:t>
            </a:r>
            <a:endPar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endParaRPr>
          </a:p>
        </p:txBody>
      </p:sp>
    </p:spTree>
  </p:cSld>
  <p:clrMapOvr>
    <a:masterClrMapping/>
  </p:clrMapOvr>
  <p:timing>
    <p:tnLst>
      <p:par>
        <p:cTn id="1" dur="indefinite" restart="never" nodeType="tmRoot">
          <p:childTnLst>
            <p:video>
              <p:cMediaNode vol="100000">
                <p:cTn id="2" fill="hold" display="0">
                  <p:stCondLst>
                    <p:cond delay="indefinite"/>
                  </p:stCondLst>
                </p:cTn>
                <p:tgtEl>
                  <p:spTgt spid="4"/>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45085" y="1329055"/>
            <a:ext cx="8282940" cy="8920480"/>
          </a:xfrm>
          <a:prstGeom prst="rect">
            <a:avLst/>
          </a:prstGeom>
        </p:spPr>
      </p:pic>
      <p:grpSp>
        <p:nvGrpSpPr>
          <p:cNvPr id="3" name="Group 3"/>
          <p:cNvGrpSpPr/>
          <p:nvPr/>
        </p:nvGrpSpPr>
        <p:grpSpPr>
          <a:xfrm rot="0">
            <a:off x="8848090" y="1433830"/>
            <a:ext cx="301625" cy="24066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94A0"/>
            </a:solidFill>
          </p:spPr>
        </p:sp>
        <p:sp>
          <p:nvSpPr>
            <p:cNvPr id="5" name="TextBox 5"/>
            <p:cNvSpPr txBox="1"/>
            <p:nvPr/>
          </p:nvSpPr>
          <p:spPr>
            <a:xfrm>
              <a:off x="76200" y="-47625"/>
              <a:ext cx="660400" cy="784225"/>
            </a:xfrm>
            <a:prstGeom prst="rect">
              <a:avLst/>
            </a:prstGeom>
          </p:spPr>
          <p:txBody>
            <a:bodyPr lIns="50800" tIns="50800" rIns="50800" bIns="50800" rtlCol="0" anchor="ctr"/>
            <a:lstStyle/>
            <a:p>
              <a:pPr algn="ctr">
                <a:lnSpc>
                  <a:spcPts val="4080"/>
                </a:lnSpc>
              </a:pPr>
            </a:p>
          </p:txBody>
        </p:sp>
      </p:grpSp>
      <p:sp>
        <p:nvSpPr>
          <p:cNvPr id="6" name="TextBox 6"/>
          <p:cNvSpPr txBox="1"/>
          <p:nvPr/>
        </p:nvSpPr>
        <p:spPr>
          <a:xfrm>
            <a:off x="1219200" y="683895"/>
            <a:ext cx="11537315" cy="525780"/>
          </a:xfrm>
          <a:prstGeom prst="rect">
            <a:avLst/>
          </a:prstGeom>
        </p:spPr>
        <p:txBody>
          <a:bodyPr lIns="0" tIns="0" rIns="0" bIns="0" rtlCol="0" anchor="t">
            <a:noAutofit/>
          </a:bodyPr>
          <a:lstStyle/>
          <a:p>
            <a:pPr marL="0" lvl="0" indent="0" algn="l">
              <a:lnSpc>
                <a:spcPts val="8960"/>
              </a:lnSpc>
              <a:spcBef>
                <a:spcPct val="0"/>
              </a:spcBef>
            </a:pPr>
            <a:r>
              <a:rPr lang="en-US" altLang="en-GB"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rPr>
              <a:t>Risk Scoring Algorithm</a:t>
            </a:r>
            <a:endParaRPr lang="en-US" altLang="en-GB"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endParaRPr>
          </a:p>
        </p:txBody>
      </p:sp>
      <p:sp>
        <p:nvSpPr>
          <p:cNvPr id="7" name="TextBox 7"/>
          <p:cNvSpPr txBox="1"/>
          <p:nvPr/>
        </p:nvSpPr>
        <p:spPr>
          <a:xfrm>
            <a:off x="9296400" y="1257300"/>
            <a:ext cx="7244080" cy="9117330"/>
          </a:xfrm>
          <a:prstGeom prst="rect">
            <a:avLst/>
          </a:prstGeom>
        </p:spPr>
        <p:txBody>
          <a:bodyPr lIns="0" tIns="0" rIns="0" bIns="0" rtlCol="0" anchor="t">
            <a:noAutofit/>
          </a:bodyPr>
          <a:lstStyle/>
          <a:p>
            <a:pPr marL="0" lvl="0" indent="0" algn="l">
              <a:lnSpc>
                <a:spcPts val="4080"/>
              </a:lnSpc>
            </a:pPr>
            <a:r>
              <a:rPr lang="en-US" altLang="en-GB" sz="2500" b="1">
                <a:solidFill>
                  <a:srgbClr val="0F4662"/>
                </a:solidFill>
                <a:latin typeface="Quicksand"/>
                <a:ea typeface="Quicksand"/>
                <a:cs typeface="Quicksand"/>
                <a:sym typeface="Quicksand"/>
              </a:rPr>
              <a:t>Critical Issues (3 points each):</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SPF authentication failure</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DKIM signature failure  </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DMARC policy failure</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Suspicious file attachments (.exe, .bat, .js)</a:t>
            </a:r>
            <a:endParaRPr lang="en-US" altLang="en-GB" sz="2500" b="1">
              <a:solidFill>
                <a:srgbClr val="0F4662"/>
              </a:solidFill>
              <a:latin typeface="Quicksand"/>
              <a:ea typeface="Quicksand"/>
              <a:cs typeface="Quicksand"/>
              <a:sym typeface="Quicksand"/>
            </a:endParaRPr>
          </a:p>
          <a:p>
            <a:pPr marL="0" lvl="0" indent="0" algn="l">
              <a:lnSpc>
                <a:spcPts val="4080"/>
              </a:lnSpc>
            </a:pP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Medium Issues (2 points each):</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Host is IP address in URL</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 symbol in URL</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Reply-To mismatch</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Many subdomains in URL</a:t>
            </a:r>
            <a:endParaRPr lang="en-US" altLang="en-GB" sz="2500" b="1">
              <a:solidFill>
                <a:srgbClr val="0F4662"/>
              </a:solidFill>
              <a:latin typeface="Quicksand"/>
              <a:ea typeface="Quicksand"/>
              <a:cs typeface="Quicksand"/>
              <a:sym typeface="Quicksand"/>
            </a:endParaRPr>
          </a:p>
          <a:p>
            <a:pPr marL="0" lvl="0" indent="0" algn="l">
              <a:lnSpc>
                <a:spcPts val="4080"/>
              </a:lnSpc>
            </a:pP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Minor Issues (1 point each):</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Suspicious keywords found</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Urgent language detected</a:t>
            </a:r>
            <a:endParaRPr lang="en-US" altLang="en-GB" sz="2500" b="1">
              <a:solidFill>
                <a:srgbClr val="0F4662"/>
              </a:solidFill>
              <a:latin typeface="Quicksand"/>
              <a:ea typeface="Quicksand"/>
              <a:cs typeface="Quicksand"/>
              <a:sym typeface="Quicksand"/>
            </a:endParaRPr>
          </a:p>
          <a:p>
            <a:pPr marL="0" lvl="0" indent="0" algn="l">
              <a:lnSpc>
                <a:spcPts val="4080"/>
              </a:lnSpc>
            </a:pPr>
            <a:r>
              <a:rPr lang="en-US" altLang="en-GB" sz="2500" b="1">
                <a:solidFill>
                  <a:srgbClr val="0F4662"/>
                </a:solidFill>
                <a:latin typeface="Quicksand"/>
                <a:ea typeface="Quicksand"/>
                <a:cs typeface="Quicksand"/>
                <a:sym typeface="Quicksand"/>
              </a:rPr>
              <a:t>• Basic URL anomalies</a:t>
            </a:r>
            <a:endParaRPr lang="en-US" altLang="en-GB" sz="2500" b="1">
              <a:solidFill>
                <a:srgbClr val="0F4662"/>
              </a:solidFill>
              <a:latin typeface="Quicksand"/>
              <a:ea typeface="Quicksand"/>
              <a:cs typeface="Quicksand"/>
              <a:sym typeface="Quicksand"/>
            </a:endParaRPr>
          </a:p>
        </p:txBody>
      </p:sp>
      <p:grpSp>
        <p:nvGrpSpPr>
          <p:cNvPr id="8" name="Group 8"/>
          <p:cNvGrpSpPr/>
          <p:nvPr/>
        </p:nvGrpSpPr>
        <p:grpSpPr>
          <a:xfrm rot="0">
            <a:off x="8881745" y="4664710"/>
            <a:ext cx="345440" cy="20510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BECB"/>
            </a:solidFill>
          </p:spPr>
        </p:sp>
        <p:sp>
          <p:nvSpPr>
            <p:cNvPr id="10" name="TextBox 10"/>
            <p:cNvSpPr txBox="1"/>
            <p:nvPr/>
          </p:nvSpPr>
          <p:spPr>
            <a:xfrm>
              <a:off x="76200" y="-47625"/>
              <a:ext cx="660400" cy="784225"/>
            </a:xfrm>
            <a:prstGeom prst="rect">
              <a:avLst/>
            </a:prstGeom>
          </p:spPr>
          <p:txBody>
            <a:bodyPr lIns="50800" tIns="50800" rIns="50800" bIns="50800" rtlCol="0" anchor="ctr"/>
            <a:lstStyle/>
            <a:p>
              <a:pPr algn="ctr">
                <a:lnSpc>
                  <a:spcPts val="4080"/>
                </a:lnSpc>
              </a:pPr>
            </a:p>
          </p:txBody>
        </p:sp>
      </p:grpSp>
      <p:grpSp>
        <p:nvGrpSpPr>
          <p:cNvPr id="11" name="Group 11"/>
          <p:cNvGrpSpPr/>
          <p:nvPr/>
        </p:nvGrpSpPr>
        <p:grpSpPr>
          <a:xfrm rot="0">
            <a:off x="8914130" y="7751445"/>
            <a:ext cx="313055" cy="29654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BECB"/>
            </a:solidFill>
          </p:spPr>
        </p:sp>
        <p:sp>
          <p:nvSpPr>
            <p:cNvPr id="13" name="TextBox 13"/>
            <p:cNvSpPr txBox="1"/>
            <p:nvPr/>
          </p:nvSpPr>
          <p:spPr>
            <a:xfrm>
              <a:off x="76200" y="-47625"/>
              <a:ext cx="660400" cy="784225"/>
            </a:xfrm>
            <a:prstGeom prst="rect">
              <a:avLst/>
            </a:prstGeom>
          </p:spPr>
          <p:txBody>
            <a:bodyPr lIns="50800" tIns="50800" rIns="50800" bIns="50800" rtlCol="0" anchor="ctr"/>
            <a:lstStyle/>
            <a:p>
              <a:pPr algn="ctr">
                <a:lnSpc>
                  <a:spcPts val="4080"/>
                </a:lnSpc>
              </a:p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599709"/>
            <a:ext cx="11534821" cy="1085215"/>
          </a:xfrm>
          <a:prstGeom prst="rect">
            <a:avLst/>
          </a:prstGeom>
        </p:spPr>
        <p:txBody>
          <a:bodyPr lIns="0" tIns="0" rIns="0" bIns="0" rtlCol="0" anchor="t">
            <a:spAutoFit/>
          </a:bodyPr>
          <a:lstStyle/>
          <a:p>
            <a:pPr marL="0" lvl="0" indent="0" algn="l">
              <a:lnSpc>
                <a:spcPts val="8960"/>
              </a:lnSpc>
              <a:spcBef>
                <a:spcPct val="0"/>
              </a:spcBef>
            </a:pPr>
            <a:r>
              <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rPr>
              <a:t>Conclusion</a:t>
            </a:r>
            <a:endParaRPr lang="en-US" sz="6400"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endParaRPr>
          </a:p>
        </p:txBody>
      </p:sp>
      <p:sp>
        <p:nvSpPr>
          <p:cNvPr id="3" name="TextBox 3"/>
          <p:cNvSpPr txBox="1"/>
          <p:nvPr/>
        </p:nvSpPr>
        <p:spPr>
          <a:xfrm>
            <a:off x="3981796" y="2386599"/>
            <a:ext cx="10655487" cy="6657975"/>
          </a:xfrm>
          <a:prstGeom prst="rect">
            <a:avLst/>
          </a:prstGeom>
        </p:spPr>
        <p:txBody>
          <a:bodyPr lIns="0" tIns="0" rIns="0" bIns="0" rtlCol="0" anchor="t">
            <a:spAutoFit/>
          </a:bodyPr>
          <a:lstStyle/>
          <a:p>
            <a:pPr algn="ctr">
              <a:lnSpc>
                <a:spcPts val="4080"/>
              </a:lnSpc>
            </a:pPr>
            <a:r>
              <a:rPr lang="en-US" sz="2400">
                <a:solidFill>
                  <a:srgbClr val="0F4662"/>
                </a:solidFill>
                <a:latin typeface="Quicksand"/>
                <a:ea typeface="Quicksand"/>
                <a:cs typeface="Quicksand"/>
                <a:sym typeface="Quicksand"/>
              </a:rPr>
              <a:t>In this project, we analyzed the techniques used in email phishing attacks and implemented detection methods using machine learning. Our approach demonstrated that identifying key features and patterns in phishing emails can significantly improve detection accuracy. By leveraging Python, ML libraries, and reliable datasets such as PhishTank, we were able to develop a robust system to protect users from phishing threats.</a:t>
            </a:r>
            <a:endParaRPr lang="en-US" sz="2400">
              <a:solidFill>
                <a:srgbClr val="0F4662"/>
              </a:solidFill>
              <a:latin typeface="Quicksand"/>
              <a:ea typeface="Quicksand"/>
              <a:cs typeface="Quicksand"/>
              <a:sym typeface="Quicksand"/>
            </a:endParaRPr>
          </a:p>
          <a:p>
            <a:pPr marL="0" lvl="0" indent="0" algn="ctr">
              <a:lnSpc>
                <a:spcPts val="4080"/>
              </a:lnSpc>
            </a:pPr>
            <a:r>
              <a:rPr lang="en-US" sz="2400">
                <a:solidFill>
                  <a:srgbClr val="0F4662"/>
                </a:solidFill>
                <a:latin typeface="Quicksand"/>
                <a:ea typeface="Quicksand"/>
                <a:cs typeface="Quicksand"/>
                <a:sym typeface="Quicksand"/>
              </a:rPr>
              <a:t>This project highlights the importance of proactive email security measures and provides a foundation for further research and enhancement in phishing detection techniques. Effective implementation of such systems can reduce cyber risks, safeguard sensitive information, and enhance overall cybersecurity awareness.</a:t>
            </a:r>
            <a:endParaRPr lang="en-US" sz="2400">
              <a:solidFill>
                <a:srgbClr val="0F4662"/>
              </a:solidFill>
              <a:latin typeface="Quicksand"/>
              <a:ea typeface="Quicksand"/>
              <a:cs typeface="Quicksand"/>
              <a:sym typeface="Quicksand"/>
            </a:endParaRPr>
          </a:p>
          <a:p>
            <a:pPr marL="0" lvl="0" indent="0" algn="ctr">
              <a:lnSpc>
                <a:spcPts val="4080"/>
              </a:lnSpc>
            </a:pPr>
          </a:p>
        </p:txBody>
      </p:sp>
      <p:sp>
        <p:nvSpPr>
          <p:cNvPr id="4" name="AutoShape 4"/>
          <p:cNvSpPr/>
          <p:nvPr/>
        </p:nvSpPr>
        <p:spPr>
          <a:xfrm>
            <a:off x="5897880" y="2291953"/>
            <a:ext cx="6492240" cy="0"/>
          </a:xfrm>
          <a:prstGeom prst="line">
            <a:avLst/>
          </a:prstGeom>
          <a:ln w="76200" cap="flat">
            <a:solidFill>
              <a:srgbClr val="0F4662"/>
            </a:solidFill>
            <a:prstDash val="solid"/>
            <a:headEnd type="none" w="sm" len="sm"/>
            <a:tailEnd type="none" w="sm" len="sm"/>
          </a:ln>
        </p:spPr>
      </p:sp>
      <p:sp>
        <p:nvSpPr>
          <p:cNvPr id="5" name="Freeform 5"/>
          <p:cNvSpPr/>
          <p:nvPr/>
        </p:nvSpPr>
        <p:spPr>
          <a:xfrm>
            <a:off x="8304001" y="1559974"/>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8304001" y="9492249"/>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AutoShape 7"/>
          <p:cNvSpPr/>
          <p:nvPr/>
        </p:nvSpPr>
        <p:spPr>
          <a:xfrm>
            <a:off x="5897880" y="9082674"/>
            <a:ext cx="6492240" cy="0"/>
          </a:xfrm>
          <a:prstGeom prst="line">
            <a:avLst/>
          </a:prstGeom>
          <a:ln w="76200" cap="flat">
            <a:solidFill>
              <a:srgbClr val="0F4662"/>
            </a:solidFill>
            <a:prstDash val="solid"/>
            <a:headEnd type="none" w="sm" len="sm"/>
            <a:tailEnd type="none" w="sm" len="sm"/>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3442710" y="3369664"/>
            <a:ext cx="11402580" cy="3185722"/>
          </a:xfrm>
          <a:prstGeom prst="rect">
            <a:avLst/>
          </a:prstGeom>
        </p:spPr>
        <p:txBody>
          <a:bodyPr lIns="0" tIns="0" rIns="0" bIns="0" rtlCol="0" anchor="t">
            <a:spAutoFit/>
          </a:bodyPr>
          <a:lstStyle/>
          <a:p>
            <a:pPr marL="0" lvl="0" indent="0" algn="ctr">
              <a:lnSpc>
                <a:spcPts val="26010"/>
              </a:lnSpc>
              <a:spcBef>
                <a:spcPct val="0"/>
              </a:spcBef>
            </a:pPr>
            <a:r>
              <a:rPr lang="en-US" sz="18575"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rPr>
              <a:t>Thank you</a:t>
            </a:r>
            <a:endParaRPr lang="en-US" sz="18575" b="1" i="1">
              <a:solidFill>
                <a:srgbClr val="0F4662"/>
              </a:solidFill>
              <a:latin typeface="Cormorant Garamond Bold Italics" panose="00000800000000000000"/>
              <a:ea typeface="Cormorant Garamond Bold Italics" panose="00000800000000000000"/>
              <a:cs typeface="Cormorant Garamond Bold Italics" panose="00000800000000000000"/>
              <a:sym typeface="Cormorant Garamond Bold Italics" panose="00000800000000000000"/>
            </a:endParaRPr>
          </a:p>
        </p:txBody>
      </p:sp>
      <p:sp>
        <p:nvSpPr>
          <p:cNvPr id="3" name="AutoShape 3"/>
          <p:cNvSpPr/>
          <p:nvPr/>
        </p:nvSpPr>
        <p:spPr>
          <a:xfrm>
            <a:off x="5897880" y="2215083"/>
            <a:ext cx="6492240" cy="0"/>
          </a:xfrm>
          <a:prstGeom prst="line">
            <a:avLst/>
          </a:prstGeom>
          <a:ln w="76200" cap="flat">
            <a:solidFill>
              <a:srgbClr val="0F4662"/>
            </a:solidFill>
            <a:prstDash val="solid"/>
            <a:headEnd type="none" w="sm" len="sm"/>
            <a:tailEnd type="none" w="sm" len="sm"/>
          </a:ln>
        </p:spPr>
      </p:sp>
      <p:sp>
        <p:nvSpPr>
          <p:cNvPr id="4" name="Freeform 4"/>
          <p:cNvSpPr/>
          <p:nvPr/>
        </p:nvSpPr>
        <p:spPr>
          <a:xfrm>
            <a:off x="8304001" y="1116666"/>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AutoShape 5"/>
          <p:cNvSpPr/>
          <p:nvPr/>
        </p:nvSpPr>
        <p:spPr>
          <a:xfrm>
            <a:off x="5897880" y="8159883"/>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90084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tags/tag1.xml><?xml version="1.0" encoding="utf-8"?>
<p:tagLst xmlns:p="http://schemas.openxmlformats.org/presentationml/2006/main">
  <p:tag name="KSO_WM_DIAGRAM_VIRTUALLY_FRAME" val="{&quot;height&quot;:686.22,&quot;left&quot;:69.82370078740158,&quot;top&quot;:27.023858267716513,&quot;width&quot;:1300.352598425197}"/>
</p:tagLst>
</file>

<file path=ppt/tags/tag2.xml><?xml version="1.0" encoding="utf-8"?>
<p:tagLst xmlns:p="http://schemas.openxmlformats.org/presentationml/2006/main">
  <p:tag name="KSO_WM_DIAGRAM_VIRTUALLY_FRAME" val="{&quot;height&quot;:686.22,&quot;left&quot;:69.82370078740158,&quot;top&quot;:27.023858267716513,&quot;width&quot;:1300.352598425197}"/>
</p:tagLst>
</file>

<file path=ppt/tags/tag3.xml><?xml version="1.0" encoding="utf-8"?>
<p:tagLst xmlns:p="http://schemas.openxmlformats.org/presentationml/2006/main">
  <p:tag name="KSO_WM_DIAGRAM_VIRTUALLY_FRAME" val="{&quot;height&quot;:686.22,&quot;left&quot;:69.82370078740158,&quot;top&quot;:27.023858267716513,&quot;width&quot;:1300.352598425197}"/>
</p:tagLst>
</file>

<file path=ppt/tags/tag4.xml><?xml version="1.0" encoding="utf-8"?>
<p:tagLst xmlns:p="http://schemas.openxmlformats.org/presentationml/2006/main">
  <p:tag name="KSO_WM_DIAGRAM_VIRTUALLY_FRAME" val="{&quot;height&quot;:686.22,&quot;left&quot;:69.82370078740158,&quot;top&quot;:27.023858267716513,&quot;width&quot;:1300.352598425197}"/>
</p:tagLst>
</file>

<file path=ppt/tags/tag5.xml><?xml version="1.0" encoding="utf-8"?>
<p:tagLst xmlns:p="http://schemas.openxmlformats.org/presentationml/2006/main">
  <p:tag name="KSO_WM_DIAGRAM_VIRTUALLY_FRAME" val="{&quot;height&quot;:686.22,&quot;left&quot;:69.82370078740158,&quot;top&quot;:27.023858267716513,&quot;width&quot;:1300.352598425197}"/>
</p:tagLst>
</file>

<file path=ppt/tags/tag6.xml><?xml version="1.0" encoding="utf-8"?>
<p:tagLst xmlns:p="http://schemas.openxmlformats.org/presentationml/2006/main">
  <p:tag name="KSO_WM_DIAGRAM_VIRTUALLY_FRAME" val="{&quot;height&quot;:686.22,&quot;left&quot;:69.82370078740158,&quot;top&quot;:27.023858267716513,&quot;width&quot;:1300.352598425197}"/>
</p:tagLst>
</file>

<file path=ppt/tags/tag7.xml><?xml version="1.0" encoding="utf-8"?>
<p:tagLst xmlns:p="http://schemas.openxmlformats.org/presentationml/2006/main">
  <p:tag name="KSO_WM_DIAGRAM_VIRTUALLY_FRAME" val="{&quot;height&quot;:686.22,&quot;left&quot;:69.82370078740158,&quot;top&quot;:27.023858267716513,&quot;width&quot;:1300.352598425197}"/>
</p:tagLst>
</file>

<file path=ppt/tags/tag8.xml><?xml version="1.0" encoding="utf-8"?>
<p:tagLst xmlns:p="http://schemas.openxmlformats.org/presentationml/2006/main">
  <p:tag name="KSO_WM_DIAGRAM_VIRTUALLY_FRAME" val="{&quot;height&quot;:686.22,&quot;left&quot;:69.82370078740158,&quot;top&quot;:27.023858267716513,&quot;width&quot;:1300.352598425197}"/>
</p:tagLst>
</file>

<file path=ppt/tags/tag9.xml><?xml version="1.0" encoding="utf-8"?>
<p:tagLst xmlns:p="http://schemas.openxmlformats.org/presentationml/2006/main">
  <p:tag name="KSO_WM_DIAGRAM_VIRTUALLY_FRAME" val="{&quot;height&quot;:686.22,&quot;left&quot;:69.82370078740158,&quot;top&quot;:27.023858267716513,&quot;width&quot;:1300.352598425197}"/>
</p:tagLst>
</file>

<file path=ppt/tags/tag10.xml><?xml version="1.0" encoding="utf-8"?>
<p:tagLst xmlns:p="http://schemas.openxmlformats.org/presentationml/2006/main">
  <p:tag name="KSO_WM_DIAGRAM_VIRTUALLY_FRAME" val="{&quot;height&quot;:686.22,&quot;left&quot;:69.82370078740158,&quot;top&quot;:27.023858267716513,&quot;width&quot;:1300.352598425197}"/>
</p:tagLst>
</file>

<file path=ppt/tags/tag11.xml><?xml version="1.0" encoding="utf-8"?>
<p:tagLst xmlns:p="http://schemas.openxmlformats.org/presentationml/2006/main">
  <p:tag name="KSO_WM_DIAGRAM_VIRTUALLY_FRAME" val="{&quot;height&quot;:686.22,&quot;left&quot;:69.82370078740158,&quot;top&quot;:27.023858267716513,&quot;width&quot;:1300.352598425197}"/>
</p:tagLst>
</file>

<file path=ppt/tags/tag12.xml><?xml version="1.0" encoding="utf-8"?>
<p:tagLst xmlns:p="http://schemas.openxmlformats.org/presentationml/2006/main">
  <p:tag name="KSO_WM_DIAGRAM_VIRTUALLY_FRAME" val="{&quot;height&quot;:686.22,&quot;left&quot;:69.82370078740158,&quot;top&quot;:27.023858267716513,&quot;width&quot;:1300.352598425197}"/>
</p:tagLst>
</file>

<file path=ppt/tags/tag13.xml><?xml version="1.0" encoding="utf-8"?>
<p:tagLst xmlns:p="http://schemas.openxmlformats.org/presentationml/2006/main">
  <p:tag name="KSO_WM_DIAGRAM_VIRTUALLY_FRAME" val="{&quot;height&quot;:686.22,&quot;left&quot;:69.82370078740158,&quot;top&quot;:27.023858267716513,&quot;width&quot;:1300.352598425197}"/>
</p:tagLst>
</file>

<file path=ppt/tags/tag14.xml><?xml version="1.0" encoding="utf-8"?>
<p:tagLst xmlns:p="http://schemas.openxmlformats.org/presentationml/2006/main">
  <p:tag name="KSO_WM_DIAGRAM_VIRTUALLY_FRAME" val="{&quot;height&quot;:686.22,&quot;left&quot;:69.82370078740158,&quot;top&quot;:27.023858267716513,&quot;width&quot;:1300.352598425197}"/>
</p:tagLst>
</file>

<file path=ppt/tags/tag15.xml><?xml version="1.0" encoding="utf-8"?>
<p:tagLst xmlns:p="http://schemas.openxmlformats.org/presentationml/2006/main">
  <p:tag name="KSO_WM_DIAGRAM_VIRTUALLY_FRAME" val="{&quot;height&quot;:686.22,&quot;left&quot;:69.82370078740158,&quot;top&quot;:27.023858267716513,&quot;width&quot;:1300.3525984251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4659</Words>
  <Application>WPS Presentation</Application>
  <PresentationFormat>On-screen Show (4:3)</PresentationFormat>
  <Paragraphs>125</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SimSun</vt:lpstr>
      <vt:lpstr>Wingdings</vt:lpstr>
      <vt:lpstr>Quicksand</vt:lpstr>
      <vt:lpstr>Cormorant Garamond Bold Italics</vt:lpstr>
      <vt:lpstr>Quicksand Bold</vt:lpstr>
      <vt:lpstr>Arial</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Product Sales Strategy</dc:title>
  <dc:creator/>
  <cp:lastModifiedBy>Esraa Waleed</cp:lastModifiedBy>
  <cp:revision>3</cp:revision>
  <dcterms:created xsi:type="dcterms:W3CDTF">2006-08-16T00:00:00Z</dcterms:created>
  <dcterms:modified xsi:type="dcterms:W3CDTF">2025-12-05T20:17:56Z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0BFA80B06C0B4215ADFDC39CD823393E_12</vt:lpwstr>
  </property>
  <property fmtid="{D5CDD505-2E9C-101B-9397-08002B2CF9AE}" pid="3" name="KSOProductBuildVer">
    <vt:lpwstr>2057-12.2.0.23158</vt:lpwstr>
  </property>
</Properties>
</file>